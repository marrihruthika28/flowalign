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wesome Lathusca" panose="020B0604020202020204" charset="0"/>
      <p:regular r:id="rId22"/>
    </p:embeddedFont>
    <p:embeddedFont>
      <p:font typeface="Brittany" panose="020B0604020202020204" charset="0"/>
      <p:regular r:id="rId23"/>
    </p:embeddedFont>
    <p:embeddedFont>
      <p:font typeface="Hammersmith One" panose="02010703030501060504"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DD9BE7-8382-42E4-8059-41566FA54F9D}" v="57" dt="2026-03-09T16:36: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68809" y="-6532214"/>
            <a:ext cx="22299167" cy="22372316"/>
            <a:chOff x="-12168" y="0"/>
            <a:chExt cx="748768" cy="736600"/>
          </a:xfrm>
        </p:grpSpPr>
        <p:sp>
          <p:nvSpPr>
            <p:cNvPr id="3" name="Freeform 3"/>
            <p:cNvSpPr/>
            <p:nvPr/>
          </p:nvSpPr>
          <p:spPr>
            <a:xfrm flipH="1">
              <a:off x="-12168" y="0"/>
              <a:ext cx="17296" cy="3765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6E3"/>
            </a:solidFill>
          </p:spPr>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7576724" y="8262938"/>
            <a:ext cx="3286542" cy="1417167"/>
          </a:xfrm>
          <a:custGeom>
            <a:avLst/>
            <a:gdLst/>
            <a:ahLst/>
            <a:cxnLst/>
            <a:rect l="l" t="t" r="r" b="b"/>
            <a:pathLst>
              <a:path w="3286542" h="1417167">
                <a:moveTo>
                  <a:pt x="0" y="0"/>
                </a:moveTo>
                <a:lnTo>
                  <a:pt x="3286542" y="0"/>
                </a:lnTo>
                <a:lnTo>
                  <a:pt x="3286542" y="1417166"/>
                </a:lnTo>
                <a:lnTo>
                  <a:pt x="0" y="1417166"/>
                </a:lnTo>
                <a:lnTo>
                  <a:pt x="0" y="0"/>
                </a:lnTo>
                <a:close/>
              </a:path>
            </a:pathLst>
          </a:custGeom>
          <a:blipFill>
            <a:blip r:embed="rId2"/>
            <a:stretch>
              <a:fillRect b="-7106"/>
            </a:stretch>
          </a:blipFill>
        </p:spPr>
      </p:sp>
      <p:sp>
        <p:nvSpPr>
          <p:cNvPr id="6" name="TextBox 6"/>
          <p:cNvSpPr txBox="1"/>
          <p:nvPr/>
        </p:nvSpPr>
        <p:spPr>
          <a:xfrm>
            <a:off x="6645262" y="1914147"/>
            <a:ext cx="8436008" cy="588010"/>
          </a:xfrm>
          <a:prstGeom prst="rect">
            <a:avLst/>
          </a:prstGeom>
        </p:spPr>
        <p:txBody>
          <a:bodyPr lIns="0" tIns="0" rIns="0" bIns="0" rtlCol="0" anchor="t">
            <a:spAutoFit/>
          </a:bodyPr>
          <a:lstStyle/>
          <a:p>
            <a:pPr algn="ctr">
              <a:lnSpc>
                <a:spcPts val="4400"/>
              </a:lnSpc>
            </a:pPr>
            <a:r>
              <a:rPr lang="en-US" sz="4400">
                <a:solidFill>
                  <a:srgbClr val="000000"/>
                </a:solidFill>
                <a:latin typeface="Hammersmith One"/>
                <a:ea typeface="Hammersmith One"/>
                <a:cs typeface="Hammersmith One"/>
                <a:sym typeface="Hammersmith One"/>
              </a:rPr>
              <a:t>PRODUCTIVITY</a:t>
            </a:r>
          </a:p>
        </p:txBody>
      </p:sp>
      <p:sp>
        <p:nvSpPr>
          <p:cNvPr id="7" name="TextBox 7"/>
          <p:cNvSpPr txBox="1"/>
          <p:nvPr/>
        </p:nvSpPr>
        <p:spPr>
          <a:xfrm>
            <a:off x="3536261" y="1890017"/>
            <a:ext cx="7475401" cy="612140"/>
          </a:xfrm>
          <a:prstGeom prst="rect">
            <a:avLst/>
          </a:prstGeom>
        </p:spPr>
        <p:txBody>
          <a:bodyPr lIns="0" tIns="0" rIns="0" bIns="0" rtlCol="0" anchor="t">
            <a:spAutoFit/>
          </a:bodyPr>
          <a:lstStyle/>
          <a:p>
            <a:pPr algn="ctr">
              <a:lnSpc>
                <a:spcPts val="4600"/>
              </a:lnSpc>
            </a:pPr>
            <a:r>
              <a:rPr lang="en-US" sz="4600">
                <a:solidFill>
                  <a:srgbClr val="000000"/>
                </a:solidFill>
                <a:latin typeface="Hammersmith One"/>
                <a:ea typeface="Hammersmith One"/>
                <a:cs typeface="Hammersmith One"/>
                <a:sym typeface="Hammersmith One"/>
              </a:rPr>
              <a:t>PERSONAL</a:t>
            </a:r>
          </a:p>
        </p:txBody>
      </p:sp>
      <p:sp>
        <p:nvSpPr>
          <p:cNvPr id="8" name="TextBox 8"/>
          <p:cNvSpPr txBox="1"/>
          <p:nvPr/>
        </p:nvSpPr>
        <p:spPr>
          <a:xfrm>
            <a:off x="2412791" y="2606932"/>
            <a:ext cx="13614409" cy="620525"/>
          </a:xfrm>
          <a:prstGeom prst="rect">
            <a:avLst/>
          </a:prstGeom>
        </p:spPr>
        <p:txBody>
          <a:bodyPr lIns="0" tIns="0" rIns="0" bIns="0" rtlCol="0" anchor="t">
            <a:spAutoFit/>
          </a:bodyPr>
          <a:lstStyle/>
          <a:p>
            <a:pPr algn="ctr">
              <a:lnSpc>
                <a:spcPts val="5172"/>
              </a:lnSpc>
            </a:pPr>
            <a:r>
              <a:rPr lang="en-US" sz="3694">
                <a:solidFill>
                  <a:srgbClr val="000000"/>
                </a:solidFill>
                <a:latin typeface="Hammersmith One"/>
                <a:ea typeface="Hammersmith One"/>
                <a:cs typeface="Hammersmith One"/>
                <a:sym typeface="Hammersmith One"/>
              </a:rPr>
              <a:t>COMPANION</a:t>
            </a:r>
          </a:p>
        </p:txBody>
      </p:sp>
      <p:sp>
        <p:nvSpPr>
          <p:cNvPr id="9" name="TextBox 9"/>
          <p:cNvSpPr txBox="1"/>
          <p:nvPr/>
        </p:nvSpPr>
        <p:spPr>
          <a:xfrm>
            <a:off x="6567264" y="3580447"/>
            <a:ext cx="5480057" cy="976630"/>
          </a:xfrm>
          <a:prstGeom prst="rect">
            <a:avLst/>
          </a:prstGeom>
        </p:spPr>
        <p:txBody>
          <a:bodyPr lIns="0" tIns="0" rIns="0" bIns="0" rtlCol="0" anchor="t">
            <a:spAutoFit/>
          </a:bodyPr>
          <a:lstStyle/>
          <a:p>
            <a:pPr algn="ctr">
              <a:lnSpc>
                <a:spcPts val="3919"/>
              </a:lnSpc>
            </a:pPr>
            <a:r>
              <a:rPr lang="en-US" sz="2799">
                <a:solidFill>
                  <a:srgbClr val="000000"/>
                </a:solidFill>
                <a:latin typeface="Hammersmith One"/>
                <a:ea typeface="Hammersmith One"/>
                <a:cs typeface="Hammersmith One"/>
                <a:sym typeface="Hammersmith One"/>
              </a:rPr>
              <a:t>NAME: MARRI HRUTHIKA</a:t>
            </a:r>
          </a:p>
          <a:p>
            <a:pPr algn="ctr">
              <a:lnSpc>
                <a:spcPts val="3919"/>
              </a:lnSpc>
            </a:pPr>
            <a:r>
              <a:rPr lang="en-US" sz="2799">
                <a:solidFill>
                  <a:srgbClr val="000000"/>
                </a:solidFill>
                <a:latin typeface="Hammersmith One"/>
                <a:ea typeface="Hammersmith One"/>
                <a:cs typeface="Hammersmith One"/>
                <a:sym typeface="Hammersmith One"/>
              </a:rPr>
              <a:t>ROLL NO: 2520090002</a:t>
            </a:r>
          </a:p>
        </p:txBody>
      </p:sp>
      <p:sp>
        <p:nvSpPr>
          <p:cNvPr id="10" name="TextBox 10"/>
          <p:cNvSpPr txBox="1"/>
          <p:nvPr/>
        </p:nvSpPr>
        <p:spPr>
          <a:xfrm>
            <a:off x="3099540" y="600967"/>
            <a:ext cx="12240910" cy="669925"/>
          </a:xfrm>
          <a:prstGeom prst="rect">
            <a:avLst/>
          </a:prstGeom>
        </p:spPr>
        <p:txBody>
          <a:bodyPr lIns="0" tIns="0" rIns="0" bIns="0" rtlCol="0" anchor="t">
            <a:spAutoFit/>
          </a:bodyPr>
          <a:lstStyle/>
          <a:p>
            <a:pPr algn="ctr">
              <a:lnSpc>
                <a:spcPts val="5000"/>
              </a:lnSpc>
            </a:pPr>
            <a:r>
              <a:rPr lang="en-US" sz="5000">
                <a:solidFill>
                  <a:srgbClr val="000000"/>
                </a:solidFill>
                <a:latin typeface="Brittany"/>
                <a:ea typeface="Brittany"/>
                <a:cs typeface="Brittany"/>
                <a:sym typeface="Brittany"/>
              </a:rPr>
              <a:t>Energy  Driven</a:t>
            </a:r>
          </a:p>
        </p:txBody>
      </p:sp>
      <p:sp>
        <p:nvSpPr>
          <p:cNvPr id="11" name="TextBox 11"/>
          <p:cNvSpPr txBox="1"/>
          <p:nvPr/>
        </p:nvSpPr>
        <p:spPr>
          <a:xfrm>
            <a:off x="6307570" y="4671377"/>
            <a:ext cx="5999445" cy="976630"/>
          </a:xfrm>
          <a:prstGeom prst="rect">
            <a:avLst/>
          </a:prstGeom>
        </p:spPr>
        <p:txBody>
          <a:bodyPr lIns="0" tIns="0" rIns="0" bIns="0" rtlCol="0" anchor="t">
            <a:spAutoFit/>
          </a:bodyPr>
          <a:lstStyle/>
          <a:p>
            <a:pPr algn="ctr">
              <a:lnSpc>
                <a:spcPts val="3919"/>
              </a:lnSpc>
            </a:pPr>
            <a:r>
              <a:rPr lang="en-US" sz="2799">
                <a:solidFill>
                  <a:srgbClr val="000000"/>
                </a:solidFill>
                <a:latin typeface="Hammersmith One"/>
                <a:ea typeface="Hammersmith One"/>
                <a:cs typeface="Hammersmith One"/>
                <a:sym typeface="Hammersmith One"/>
              </a:rPr>
              <a:t>CLUSTER: 1</a:t>
            </a:r>
          </a:p>
          <a:p>
            <a:pPr algn="ctr">
              <a:lnSpc>
                <a:spcPts val="3919"/>
              </a:lnSpc>
            </a:pPr>
            <a:r>
              <a:rPr lang="en-US" sz="2799">
                <a:solidFill>
                  <a:srgbClr val="000000"/>
                </a:solidFill>
                <a:latin typeface="Hammersmith One"/>
                <a:ea typeface="Hammersmith One"/>
                <a:cs typeface="Hammersmith One"/>
                <a:sym typeface="Hammersmith One"/>
              </a:rPr>
              <a:t>SECTION: 1</a:t>
            </a:r>
          </a:p>
        </p:txBody>
      </p:sp>
      <p:sp>
        <p:nvSpPr>
          <p:cNvPr id="12" name="TextBox 12"/>
          <p:cNvSpPr txBox="1"/>
          <p:nvPr/>
        </p:nvSpPr>
        <p:spPr>
          <a:xfrm>
            <a:off x="5467514" y="5762307"/>
            <a:ext cx="7504963" cy="1967230"/>
          </a:xfrm>
          <a:prstGeom prst="rect">
            <a:avLst/>
          </a:prstGeom>
        </p:spPr>
        <p:txBody>
          <a:bodyPr lIns="0" tIns="0" rIns="0" bIns="0" rtlCol="0" anchor="t">
            <a:spAutoFit/>
          </a:bodyPr>
          <a:lstStyle/>
          <a:p>
            <a:pPr algn="ctr">
              <a:lnSpc>
                <a:spcPts val="3919"/>
              </a:lnSpc>
            </a:pPr>
            <a:r>
              <a:rPr lang="en-US" sz="2799">
                <a:solidFill>
                  <a:srgbClr val="000000"/>
                </a:solidFill>
                <a:latin typeface="Hammersmith One"/>
                <a:ea typeface="Hammersmith One"/>
                <a:cs typeface="Hammersmith One"/>
                <a:sym typeface="Hammersmith One"/>
              </a:rPr>
              <a:t>Under the Guidance of</a:t>
            </a:r>
          </a:p>
          <a:p>
            <a:pPr algn="ctr">
              <a:lnSpc>
                <a:spcPts val="3919"/>
              </a:lnSpc>
            </a:pPr>
            <a:r>
              <a:rPr lang="en-US" sz="2799">
                <a:solidFill>
                  <a:srgbClr val="000000"/>
                </a:solidFill>
                <a:latin typeface="Hammersmith One"/>
                <a:ea typeface="Hammersmith One"/>
                <a:cs typeface="Hammersmith One"/>
                <a:sym typeface="Hammersmith One"/>
              </a:rPr>
              <a:t>Supervisor name: Surekha</a:t>
            </a:r>
          </a:p>
          <a:p>
            <a:pPr algn="ctr">
              <a:lnSpc>
                <a:spcPts val="3919"/>
              </a:lnSpc>
            </a:pPr>
            <a:r>
              <a:rPr lang="en-US" sz="2799">
                <a:solidFill>
                  <a:srgbClr val="000000"/>
                </a:solidFill>
                <a:latin typeface="Hammersmith One"/>
                <a:ea typeface="Hammersmith One"/>
                <a:cs typeface="Hammersmith One"/>
                <a:sym typeface="Hammersmith One"/>
              </a:rPr>
              <a:t>Assistant Profesor of </a:t>
            </a:r>
          </a:p>
          <a:p>
            <a:pPr algn="ctr">
              <a:lnSpc>
                <a:spcPts val="3919"/>
              </a:lnSpc>
            </a:pPr>
            <a:r>
              <a:rPr lang="en-US" sz="2799">
                <a:solidFill>
                  <a:srgbClr val="000000"/>
                </a:solidFill>
                <a:latin typeface="Hammersmith One"/>
                <a:ea typeface="Hammersmith One"/>
                <a:cs typeface="Hammersmith One"/>
                <a:sym typeface="Hammersmith One"/>
              </a:rPr>
              <a:t>Department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17" y="-4690"/>
            <a:ext cx="18266343" cy="5689928"/>
            <a:chOff x="0" y="0"/>
            <a:chExt cx="5380852" cy="1530692"/>
          </a:xfrm>
        </p:grpSpPr>
        <p:sp>
          <p:nvSpPr>
            <p:cNvPr id="3" name="Freeform 3"/>
            <p:cNvSpPr/>
            <p:nvPr/>
          </p:nvSpPr>
          <p:spPr>
            <a:xfrm>
              <a:off x="0" y="0"/>
              <a:ext cx="5380852" cy="1530692"/>
            </a:xfrm>
            <a:custGeom>
              <a:avLst/>
              <a:gdLst/>
              <a:ahLst/>
              <a:cxnLst/>
              <a:rect l="l" t="t" r="r" b="b"/>
              <a:pathLst>
                <a:path w="5380852" h="1530692">
                  <a:moveTo>
                    <a:pt x="0" y="0"/>
                  </a:moveTo>
                  <a:lnTo>
                    <a:pt x="5380852" y="0"/>
                  </a:lnTo>
                  <a:lnTo>
                    <a:pt x="5380852" y="1530692"/>
                  </a:lnTo>
                  <a:lnTo>
                    <a:pt x="0" y="1530692"/>
                  </a:lnTo>
                  <a:close/>
                </a:path>
              </a:pathLst>
            </a:custGeom>
            <a:solidFill>
              <a:srgbClr val="FFF6E3"/>
            </a:solidFill>
          </p:spPr>
        </p:sp>
        <p:sp>
          <p:nvSpPr>
            <p:cNvPr id="4" name="TextBox 4"/>
            <p:cNvSpPr txBox="1"/>
            <p:nvPr/>
          </p:nvSpPr>
          <p:spPr>
            <a:xfrm>
              <a:off x="0" y="-57150"/>
              <a:ext cx="5380852" cy="1587842"/>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8122534" y="571817"/>
            <a:ext cx="6637182" cy="828042"/>
          </a:xfrm>
          <a:prstGeom prst="rect">
            <a:avLst/>
          </a:prstGeom>
        </p:spPr>
        <p:txBody>
          <a:bodyPr lIns="0" tIns="0" rIns="0" bIns="0" rtlCol="0" anchor="t">
            <a:spAutoFit/>
          </a:bodyPr>
          <a:lstStyle/>
          <a:p>
            <a:pPr algn="l">
              <a:lnSpc>
                <a:spcPts val="6859"/>
              </a:lnSpc>
            </a:pPr>
            <a:r>
              <a:rPr lang="en-US" sz="4899">
                <a:solidFill>
                  <a:srgbClr val="000000"/>
                </a:solidFill>
                <a:latin typeface="Hammersmith One"/>
                <a:ea typeface="Hammersmith One"/>
                <a:cs typeface="Hammersmith One"/>
                <a:sym typeface="Hammersmith One"/>
              </a:rPr>
              <a:t>OUTLINE</a:t>
            </a:r>
          </a:p>
        </p:txBody>
      </p:sp>
      <p:sp>
        <p:nvSpPr>
          <p:cNvPr id="6" name="TextBox 6"/>
          <p:cNvSpPr txBox="1"/>
          <p:nvPr/>
        </p:nvSpPr>
        <p:spPr>
          <a:xfrm>
            <a:off x="580767" y="2164751"/>
            <a:ext cx="4750356" cy="7434580"/>
          </a:xfrm>
          <a:prstGeom prst="rect">
            <a:avLst/>
          </a:prstGeom>
        </p:spPr>
        <p:txBody>
          <a:bodyPr lIns="0" tIns="0" rIns="0" bIns="0" rtlCol="0" anchor="t">
            <a:spAutoFit/>
          </a:bodyPr>
          <a:lstStyle/>
          <a:p>
            <a:pPr algn="l">
              <a:lnSpc>
                <a:spcPts val="3919"/>
              </a:lnSpc>
            </a:pPr>
            <a:r>
              <a:rPr lang="en-US" sz="2799">
                <a:solidFill>
                  <a:srgbClr val="000000"/>
                </a:solidFill>
                <a:latin typeface="Times New Roman"/>
                <a:ea typeface="Times New Roman"/>
                <a:cs typeface="Times New Roman"/>
                <a:sym typeface="Times New Roman"/>
              </a:rPr>
              <a:t>1. Abstract</a:t>
            </a:r>
          </a:p>
          <a:p>
            <a:pPr algn="l">
              <a:lnSpc>
                <a:spcPts val="3919"/>
              </a:lnSpc>
            </a:pPr>
            <a:r>
              <a:rPr lang="en-US" sz="2799">
                <a:solidFill>
                  <a:srgbClr val="000000"/>
                </a:solidFill>
                <a:latin typeface="Times New Roman"/>
                <a:ea typeface="Times New Roman"/>
                <a:cs typeface="Times New Roman"/>
                <a:sym typeface="Times New Roman"/>
              </a:rPr>
              <a:t>2. Existing System</a:t>
            </a:r>
          </a:p>
          <a:p>
            <a:pPr algn="l">
              <a:lnSpc>
                <a:spcPts val="3919"/>
              </a:lnSpc>
              <a:spcBef>
                <a:spcPct val="0"/>
              </a:spcBef>
            </a:pPr>
            <a:r>
              <a:rPr lang="en-US" sz="2799">
                <a:solidFill>
                  <a:srgbClr val="000000"/>
                </a:solidFill>
                <a:latin typeface="Times New Roman"/>
                <a:ea typeface="Times New Roman"/>
                <a:cs typeface="Times New Roman"/>
                <a:sym typeface="Times New Roman"/>
              </a:rPr>
              <a:t>3. Proposed System</a:t>
            </a:r>
          </a:p>
          <a:p>
            <a:pPr algn="l">
              <a:lnSpc>
                <a:spcPts val="3919"/>
              </a:lnSpc>
              <a:spcBef>
                <a:spcPct val="0"/>
              </a:spcBef>
            </a:pPr>
            <a:r>
              <a:rPr lang="en-US" sz="2799">
                <a:solidFill>
                  <a:srgbClr val="000000"/>
                </a:solidFill>
                <a:latin typeface="Times New Roman"/>
                <a:ea typeface="Times New Roman"/>
                <a:cs typeface="Times New Roman"/>
                <a:sym typeface="Times New Roman"/>
              </a:rPr>
              <a:t>4. System Architecture</a:t>
            </a:r>
          </a:p>
          <a:p>
            <a:pPr algn="l">
              <a:lnSpc>
                <a:spcPts val="3919"/>
              </a:lnSpc>
              <a:spcBef>
                <a:spcPct val="0"/>
              </a:spcBef>
            </a:pPr>
            <a:r>
              <a:rPr lang="en-US" sz="2799">
                <a:solidFill>
                  <a:srgbClr val="000000"/>
                </a:solidFill>
                <a:latin typeface="Times New Roman"/>
                <a:ea typeface="Times New Roman"/>
                <a:cs typeface="Times New Roman"/>
                <a:sym typeface="Times New Roman"/>
              </a:rPr>
              <a:t>5. Project Modules</a:t>
            </a:r>
          </a:p>
          <a:p>
            <a:pPr algn="l">
              <a:lnSpc>
                <a:spcPts val="3919"/>
              </a:lnSpc>
              <a:spcBef>
                <a:spcPct val="0"/>
              </a:spcBef>
            </a:pPr>
            <a:r>
              <a:rPr lang="en-US" sz="2799">
                <a:solidFill>
                  <a:srgbClr val="000000"/>
                </a:solidFill>
                <a:latin typeface="Times New Roman"/>
                <a:ea typeface="Times New Roman"/>
                <a:cs typeface="Times New Roman"/>
                <a:sym typeface="Times New Roman"/>
              </a:rPr>
              <a:t>6. Objectives</a:t>
            </a:r>
          </a:p>
          <a:p>
            <a:pPr algn="l">
              <a:lnSpc>
                <a:spcPts val="3919"/>
              </a:lnSpc>
              <a:spcBef>
                <a:spcPct val="0"/>
              </a:spcBef>
            </a:pPr>
            <a:r>
              <a:rPr lang="en-US" sz="2799">
                <a:solidFill>
                  <a:srgbClr val="000000"/>
                </a:solidFill>
                <a:latin typeface="Times New Roman"/>
                <a:ea typeface="Times New Roman"/>
                <a:cs typeface="Times New Roman"/>
                <a:sym typeface="Times New Roman"/>
              </a:rPr>
              <a:t>7. Co’s Attainments - FWD</a:t>
            </a:r>
          </a:p>
          <a:p>
            <a:pPr algn="l">
              <a:lnSpc>
                <a:spcPts val="3919"/>
              </a:lnSpc>
              <a:spcBef>
                <a:spcPct val="0"/>
              </a:spcBef>
            </a:pPr>
            <a:r>
              <a:rPr lang="en-US" sz="2799">
                <a:solidFill>
                  <a:srgbClr val="000000"/>
                </a:solidFill>
                <a:latin typeface="Times New Roman"/>
                <a:ea typeface="Times New Roman"/>
                <a:cs typeface="Times New Roman"/>
                <a:sym typeface="Times New Roman"/>
              </a:rPr>
              <a:t>   1. Co1</a:t>
            </a:r>
          </a:p>
          <a:p>
            <a:pPr algn="l">
              <a:lnSpc>
                <a:spcPts val="3919"/>
              </a:lnSpc>
              <a:spcBef>
                <a:spcPct val="0"/>
              </a:spcBef>
            </a:pPr>
            <a:r>
              <a:rPr lang="en-US" sz="2799">
                <a:solidFill>
                  <a:srgbClr val="000000"/>
                </a:solidFill>
                <a:latin typeface="Times New Roman"/>
                <a:ea typeface="Times New Roman"/>
                <a:cs typeface="Times New Roman"/>
                <a:sym typeface="Times New Roman"/>
              </a:rPr>
              <a:t>   2. Co2 ........ 5. Co5</a:t>
            </a:r>
          </a:p>
          <a:p>
            <a:pPr algn="l">
              <a:lnSpc>
                <a:spcPts val="3919"/>
              </a:lnSpc>
              <a:spcBef>
                <a:spcPct val="0"/>
              </a:spcBef>
            </a:pPr>
            <a:r>
              <a:rPr lang="en-US" sz="2799">
                <a:solidFill>
                  <a:srgbClr val="000000"/>
                </a:solidFill>
                <a:latin typeface="Times New Roman"/>
                <a:ea typeface="Times New Roman"/>
                <a:cs typeface="Times New Roman"/>
                <a:sym typeface="Times New Roman"/>
              </a:rPr>
              <a:t>8. Co’s Attainments - DSA</a:t>
            </a:r>
          </a:p>
          <a:p>
            <a:pPr algn="l">
              <a:lnSpc>
                <a:spcPts val="3919"/>
              </a:lnSpc>
              <a:spcBef>
                <a:spcPct val="0"/>
              </a:spcBef>
            </a:pPr>
            <a:r>
              <a:rPr lang="en-US" sz="2799">
                <a:solidFill>
                  <a:srgbClr val="000000"/>
                </a:solidFill>
                <a:latin typeface="Times New Roman"/>
                <a:ea typeface="Times New Roman"/>
                <a:cs typeface="Times New Roman"/>
                <a:sym typeface="Times New Roman"/>
              </a:rPr>
              <a:t>   1. Co1</a:t>
            </a:r>
          </a:p>
          <a:p>
            <a:pPr algn="l">
              <a:lnSpc>
                <a:spcPts val="3919"/>
              </a:lnSpc>
              <a:spcBef>
                <a:spcPct val="0"/>
              </a:spcBef>
            </a:pPr>
            <a:r>
              <a:rPr lang="en-US" sz="2799">
                <a:solidFill>
                  <a:srgbClr val="000000"/>
                </a:solidFill>
                <a:latin typeface="Times New Roman"/>
                <a:ea typeface="Times New Roman"/>
                <a:cs typeface="Times New Roman"/>
                <a:sym typeface="Times New Roman"/>
              </a:rPr>
              <a:t>   2. Co2 ........ 5. Co5</a:t>
            </a:r>
          </a:p>
          <a:p>
            <a:pPr algn="l">
              <a:lnSpc>
                <a:spcPts val="3919"/>
              </a:lnSpc>
              <a:spcBef>
                <a:spcPct val="0"/>
              </a:spcBef>
            </a:pPr>
            <a:r>
              <a:rPr lang="en-US" sz="2799">
                <a:solidFill>
                  <a:srgbClr val="000000"/>
                </a:solidFill>
                <a:latin typeface="Times New Roman"/>
                <a:ea typeface="Times New Roman"/>
                <a:cs typeface="Times New Roman"/>
                <a:sym typeface="Times New Roman"/>
              </a:rPr>
              <a:t>9. Screen Shots for FWD &amp; DSA</a:t>
            </a:r>
          </a:p>
          <a:p>
            <a:pPr algn="l">
              <a:lnSpc>
                <a:spcPts val="3919"/>
              </a:lnSpc>
              <a:spcBef>
                <a:spcPct val="0"/>
              </a:spcBef>
            </a:pPr>
            <a:r>
              <a:rPr lang="en-US" sz="2799">
                <a:solidFill>
                  <a:srgbClr val="000000"/>
                </a:solidFill>
                <a:latin typeface="Times New Roman"/>
                <a:ea typeface="Times New Roman"/>
                <a:cs typeface="Times New Roman"/>
                <a:sym typeface="Times New Roman"/>
              </a:rPr>
              <a:t>10. Conclusion</a:t>
            </a:r>
          </a:p>
          <a:p>
            <a:pPr algn="l">
              <a:lnSpc>
                <a:spcPts val="3919"/>
              </a:lnSpc>
              <a:spcBef>
                <a:spcPct val="0"/>
              </a:spcBef>
            </a:pPr>
            <a:r>
              <a:rPr lang="en-US" sz="2799">
                <a:solidFill>
                  <a:srgbClr val="000000"/>
                </a:solidFill>
                <a:latin typeface="Times New Roman"/>
                <a:ea typeface="Times New Roman"/>
                <a:cs typeface="Times New Roman"/>
                <a:sym typeface="Times New Roman"/>
              </a:rPr>
              <a:t>11. Geo-Tagged Photos</a:t>
            </a:r>
          </a:p>
        </p:txBody>
      </p:sp>
      <p:sp>
        <p:nvSpPr>
          <p:cNvPr id="7" name="Freeform 7"/>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295" y="13668"/>
            <a:ext cx="9818027" cy="10281636"/>
            <a:chOff x="0" y="0"/>
            <a:chExt cx="3043394" cy="3631101"/>
          </a:xfrm>
        </p:grpSpPr>
        <p:sp>
          <p:nvSpPr>
            <p:cNvPr id="3" name="Freeform 3"/>
            <p:cNvSpPr/>
            <p:nvPr/>
          </p:nvSpPr>
          <p:spPr>
            <a:xfrm>
              <a:off x="0" y="0"/>
              <a:ext cx="3043394" cy="3631101"/>
            </a:xfrm>
            <a:custGeom>
              <a:avLst/>
              <a:gdLst/>
              <a:ahLst/>
              <a:cxnLst/>
              <a:rect l="l" t="t" r="r" b="b"/>
              <a:pathLst>
                <a:path w="3043394" h="3631101">
                  <a:moveTo>
                    <a:pt x="0" y="0"/>
                  </a:moveTo>
                  <a:lnTo>
                    <a:pt x="3043394" y="0"/>
                  </a:lnTo>
                  <a:lnTo>
                    <a:pt x="3043394" y="3631101"/>
                  </a:lnTo>
                  <a:lnTo>
                    <a:pt x="0" y="3631101"/>
                  </a:lnTo>
                  <a:close/>
                </a:path>
              </a:pathLst>
            </a:custGeom>
            <a:solidFill>
              <a:srgbClr val="FFF6E3"/>
            </a:solidFill>
          </p:spPr>
        </p:sp>
        <p:sp>
          <p:nvSpPr>
            <p:cNvPr id="4" name="TextBox 4"/>
            <p:cNvSpPr txBox="1"/>
            <p:nvPr/>
          </p:nvSpPr>
          <p:spPr>
            <a:xfrm>
              <a:off x="0" y="-28575"/>
              <a:ext cx="3043394" cy="365967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5400000">
            <a:off x="12868374" y="4893599"/>
            <a:ext cx="10307898" cy="520700"/>
            <a:chOff x="0" y="0"/>
            <a:chExt cx="2710823" cy="337830"/>
          </a:xfrm>
        </p:grpSpPr>
        <p:sp>
          <p:nvSpPr>
            <p:cNvPr id="6" name="Freeform 6"/>
            <p:cNvSpPr/>
            <p:nvPr/>
          </p:nvSpPr>
          <p:spPr>
            <a:xfrm>
              <a:off x="0" y="0"/>
              <a:ext cx="2710823" cy="337830"/>
            </a:xfrm>
            <a:custGeom>
              <a:avLst/>
              <a:gdLst/>
              <a:ahLst/>
              <a:cxnLst/>
              <a:rect l="l" t="t" r="r" b="b"/>
              <a:pathLst>
                <a:path w="2710823" h="337830">
                  <a:moveTo>
                    <a:pt x="0" y="0"/>
                  </a:moveTo>
                  <a:lnTo>
                    <a:pt x="2710823" y="0"/>
                  </a:lnTo>
                  <a:lnTo>
                    <a:pt x="2710823" y="337830"/>
                  </a:lnTo>
                  <a:lnTo>
                    <a:pt x="0" y="337830"/>
                  </a:lnTo>
                  <a:close/>
                </a:path>
              </a:pathLst>
            </a:custGeom>
            <a:solidFill>
              <a:srgbClr val="FFF6E3">
                <a:alpha val="74902"/>
              </a:srgbClr>
            </a:solidFill>
          </p:spPr>
        </p:sp>
        <p:sp>
          <p:nvSpPr>
            <p:cNvPr id="7" name="TextBox 7"/>
            <p:cNvSpPr txBox="1"/>
            <p:nvPr/>
          </p:nvSpPr>
          <p:spPr>
            <a:xfrm>
              <a:off x="0" y="-28575"/>
              <a:ext cx="2710823" cy="366405"/>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248197" y="3381787"/>
            <a:ext cx="16332378" cy="3957325"/>
          </a:xfrm>
          <a:prstGeom prst="rect">
            <a:avLst/>
          </a:prstGeom>
        </p:spPr>
        <p:txBody>
          <a:bodyPr lIns="0" tIns="0" rIns="0" bIns="0" rtlCol="0" anchor="t">
            <a:spAutoFit/>
          </a:bodyPr>
          <a:lstStyle/>
          <a:p>
            <a:pPr algn="l">
              <a:lnSpc>
                <a:spcPts val="3954"/>
              </a:lnSpc>
            </a:pPr>
            <a:r>
              <a:rPr lang="en-US" sz="2824">
                <a:solidFill>
                  <a:srgbClr val="000000"/>
                </a:solidFill>
                <a:latin typeface="Times New Roman"/>
                <a:ea typeface="Times New Roman"/>
                <a:cs typeface="Times New Roman"/>
                <a:sym typeface="Times New Roman"/>
              </a:rPr>
              <a:t>In today’s fast-paced and digitally driven world, productivity is commonly managed through rigid schedules, deadlines, and time-based planning systems. However, human performance is not constant throughout the day; it fluctuates based on energy levels, mental focus, emotional state, and fatigue. Traditional task management systems often ignore these natural variations, leading to procrastination, reduced efficiency, and burnout. The Energy Driven Personal Productivity Companion addresses this limitation by introducing an energy-aware approach to productivity management. Instead of focusing solely on “what needs to be done” and “by when,” the system emphasizes “when is the user best suited to perform a particular task,” thereby aligning work intensity with real-time energy conditions.</a:t>
            </a:r>
          </a:p>
        </p:txBody>
      </p:sp>
      <p:sp>
        <p:nvSpPr>
          <p:cNvPr id="9" name="AutoShape 9"/>
          <p:cNvSpPr/>
          <p:nvPr/>
        </p:nvSpPr>
        <p:spPr>
          <a:xfrm>
            <a:off x="990600" y="3274373"/>
            <a:ext cx="38100" cy="4252103"/>
          </a:xfrm>
          <a:prstGeom prst="line">
            <a:avLst/>
          </a:prstGeom>
          <a:ln w="76200" cap="flat">
            <a:solidFill>
              <a:srgbClr val="000000"/>
            </a:solidFill>
            <a:prstDash val="solid"/>
            <a:headEnd type="none" w="sm" len="sm"/>
            <a:tailEnd type="none" w="sm" len="sm"/>
          </a:ln>
        </p:spPr>
      </p:sp>
      <p:grpSp>
        <p:nvGrpSpPr>
          <p:cNvPr id="10" name="Group 10"/>
          <p:cNvGrpSpPr/>
          <p:nvPr/>
        </p:nvGrpSpPr>
        <p:grpSpPr>
          <a:xfrm>
            <a:off x="-745269" y="-2435088"/>
            <a:ext cx="14982893" cy="4671695"/>
            <a:chOff x="0" y="0"/>
            <a:chExt cx="19977191" cy="6228927"/>
          </a:xfrm>
        </p:grpSpPr>
        <p:sp>
          <p:nvSpPr>
            <p:cNvPr id="11" name="TextBox 11"/>
            <p:cNvSpPr txBox="1"/>
            <p:nvPr/>
          </p:nvSpPr>
          <p:spPr>
            <a:xfrm>
              <a:off x="0" y="628650"/>
              <a:ext cx="19977191" cy="5097586"/>
            </a:xfrm>
            <a:prstGeom prst="rect">
              <a:avLst/>
            </a:prstGeom>
          </p:spPr>
          <p:txBody>
            <a:bodyPr lIns="0" tIns="0" rIns="0" bIns="0" rtlCol="0" anchor="t">
              <a:spAutoFit/>
            </a:bodyPr>
            <a:lstStyle/>
            <a:p>
              <a:pPr algn="ctr">
                <a:lnSpc>
                  <a:spcPts val="18337"/>
                </a:lnSpc>
              </a:pPr>
              <a:endParaRPr/>
            </a:p>
          </p:txBody>
        </p:sp>
        <p:sp>
          <p:nvSpPr>
            <p:cNvPr id="12" name="TextBox 12"/>
            <p:cNvSpPr txBox="1"/>
            <p:nvPr/>
          </p:nvSpPr>
          <p:spPr>
            <a:xfrm>
              <a:off x="0" y="4910820"/>
              <a:ext cx="9988595" cy="1318107"/>
            </a:xfrm>
            <a:prstGeom prst="rect">
              <a:avLst/>
            </a:prstGeom>
          </p:spPr>
          <p:txBody>
            <a:bodyPr lIns="0" tIns="0" rIns="0" bIns="0" rtlCol="0" anchor="t">
              <a:spAutoFit/>
            </a:bodyPr>
            <a:lstStyle/>
            <a:p>
              <a:pPr algn="ctr">
                <a:lnSpc>
                  <a:spcPts val="5743"/>
                </a:lnSpc>
              </a:pPr>
              <a:r>
                <a:rPr lang="en-US" sz="7178">
                  <a:solidFill>
                    <a:srgbClr val="0D3316"/>
                  </a:solidFill>
                  <a:latin typeface="Awesome Lathusca"/>
                  <a:ea typeface="Awesome Lathusca"/>
                  <a:cs typeface="Awesome Lathusca"/>
                  <a:sym typeface="Awesome Lathusca"/>
                </a:rPr>
                <a:t>ABSTRACT:</a:t>
              </a:r>
            </a:p>
          </p:txBody>
        </p:sp>
      </p:grpSp>
      <p:sp>
        <p:nvSpPr>
          <p:cNvPr id="13" name="Freeform 13"/>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578543" y="10570"/>
            <a:ext cx="9716876" cy="10299693"/>
            <a:chOff x="0" y="0"/>
            <a:chExt cx="3213431" cy="3523469"/>
          </a:xfrm>
        </p:grpSpPr>
        <p:sp>
          <p:nvSpPr>
            <p:cNvPr id="3" name="Freeform 3"/>
            <p:cNvSpPr/>
            <p:nvPr/>
          </p:nvSpPr>
          <p:spPr>
            <a:xfrm>
              <a:off x="0" y="0"/>
              <a:ext cx="3213431" cy="3523469"/>
            </a:xfrm>
            <a:custGeom>
              <a:avLst/>
              <a:gdLst/>
              <a:ahLst/>
              <a:cxnLst/>
              <a:rect l="l" t="t" r="r" b="b"/>
              <a:pathLst>
                <a:path w="3213431" h="3523469">
                  <a:moveTo>
                    <a:pt x="0" y="0"/>
                  </a:moveTo>
                  <a:lnTo>
                    <a:pt x="3213431" y="0"/>
                  </a:lnTo>
                  <a:lnTo>
                    <a:pt x="3213431" y="3523469"/>
                  </a:lnTo>
                  <a:lnTo>
                    <a:pt x="0" y="3523469"/>
                  </a:lnTo>
                  <a:close/>
                </a:path>
              </a:pathLst>
            </a:custGeom>
            <a:solidFill>
              <a:srgbClr val="FFF6E3"/>
            </a:solidFill>
          </p:spPr>
        </p:sp>
        <p:sp>
          <p:nvSpPr>
            <p:cNvPr id="4" name="TextBox 4"/>
            <p:cNvSpPr txBox="1"/>
            <p:nvPr/>
          </p:nvSpPr>
          <p:spPr>
            <a:xfrm>
              <a:off x="0" y="-57150"/>
              <a:ext cx="3213431" cy="3580619"/>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254050" y="3122263"/>
            <a:ext cx="16230600" cy="4666909"/>
          </a:xfrm>
          <a:prstGeom prst="rect">
            <a:avLst/>
          </a:prstGeom>
        </p:spPr>
        <p:txBody>
          <a:bodyPr lIns="0" tIns="0" rIns="0" bIns="0" rtlCol="0" anchor="t">
            <a:spAutoFit/>
          </a:bodyPr>
          <a:lstStyle/>
          <a:p>
            <a:pPr algn="l">
              <a:lnSpc>
                <a:spcPts val="3693"/>
              </a:lnSpc>
            </a:pPr>
            <a:r>
              <a:rPr lang="en-US" sz="2638" spc="42">
                <a:solidFill>
                  <a:srgbClr val="000000"/>
                </a:solidFill>
                <a:latin typeface="Times New Roman"/>
                <a:ea typeface="Times New Roman"/>
                <a:cs typeface="Times New Roman"/>
                <a:sym typeface="Times New Roman"/>
              </a:rPr>
              <a:t>This web-based application enables users to create and categorize tasks based on priority and deadlines while also performing regular energy and mood check-ins. Using this input, the system intelligently recommends suitable tasks that match the user’s current energy level, ensuring optimal performance without overexertion. The platform further integrates an adaptive focus timer with selectable concentration modes—high, medium, and normal—allowing users to customize work sessions according to their capacity. A productivity scoring mechanism tracks completed tasks, focus sessions, and energy-task alignment, offering insights into performance trends over time. Additionally, the system provides motivational feedback and improvement suggestions to encourage consistency and sustainable productivity. By combining structured task management with human-centric energy awareness, this project promotes smarter work habits, reduces mental fatigue, and supports balanced daily productivity through a practical and user-focused framework.</a:t>
            </a:r>
          </a:p>
        </p:txBody>
      </p:sp>
      <p:sp>
        <p:nvSpPr>
          <p:cNvPr id="6" name="AutoShape 6"/>
          <p:cNvSpPr/>
          <p:nvPr/>
        </p:nvSpPr>
        <p:spPr>
          <a:xfrm>
            <a:off x="766966" y="3274373"/>
            <a:ext cx="38100" cy="4578824"/>
          </a:xfrm>
          <a:prstGeom prst="line">
            <a:avLst/>
          </a:prstGeom>
          <a:ln w="76200" cap="flat">
            <a:solidFill>
              <a:srgbClr val="000000"/>
            </a:solidFill>
            <a:prstDash val="solid"/>
            <a:headEnd type="none" w="sm" len="sm"/>
            <a:tailEnd type="none" w="sm" len="sm"/>
          </a:ln>
        </p:spPr>
      </p:sp>
      <p:grpSp>
        <p:nvGrpSpPr>
          <p:cNvPr id="7" name="Group 7"/>
          <p:cNvGrpSpPr/>
          <p:nvPr/>
        </p:nvGrpSpPr>
        <p:grpSpPr>
          <a:xfrm rot="5400000">
            <a:off x="-4873062" y="4893599"/>
            <a:ext cx="10307898" cy="490220"/>
            <a:chOff x="0" y="0"/>
            <a:chExt cx="2710823" cy="337830"/>
          </a:xfrm>
        </p:grpSpPr>
        <p:sp>
          <p:nvSpPr>
            <p:cNvPr id="8" name="Freeform 8"/>
            <p:cNvSpPr/>
            <p:nvPr/>
          </p:nvSpPr>
          <p:spPr>
            <a:xfrm>
              <a:off x="0" y="0"/>
              <a:ext cx="2710823" cy="337830"/>
            </a:xfrm>
            <a:custGeom>
              <a:avLst/>
              <a:gdLst/>
              <a:ahLst/>
              <a:cxnLst/>
              <a:rect l="l" t="t" r="r" b="b"/>
              <a:pathLst>
                <a:path w="2710823" h="337830">
                  <a:moveTo>
                    <a:pt x="0" y="0"/>
                  </a:moveTo>
                  <a:lnTo>
                    <a:pt x="2710823" y="0"/>
                  </a:lnTo>
                  <a:lnTo>
                    <a:pt x="2710823" y="337830"/>
                  </a:lnTo>
                  <a:lnTo>
                    <a:pt x="0" y="337830"/>
                  </a:lnTo>
                  <a:close/>
                </a:path>
              </a:pathLst>
            </a:custGeom>
            <a:solidFill>
              <a:srgbClr val="FFF6E3">
                <a:alpha val="74902"/>
              </a:srgbClr>
            </a:solidFill>
          </p:spPr>
        </p:sp>
        <p:sp>
          <p:nvSpPr>
            <p:cNvPr id="9" name="TextBox 9"/>
            <p:cNvSpPr txBox="1"/>
            <p:nvPr/>
          </p:nvSpPr>
          <p:spPr>
            <a:xfrm>
              <a:off x="0" y="-28575"/>
              <a:ext cx="2710823" cy="366405"/>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102195" y="-3966632"/>
            <a:ext cx="10192492" cy="18222317"/>
            <a:chOff x="0" y="0"/>
            <a:chExt cx="3627313" cy="5889843"/>
          </a:xfrm>
        </p:grpSpPr>
        <p:sp>
          <p:nvSpPr>
            <p:cNvPr id="3" name="Freeform 3"/>
            <p:cNvSpPr/>
            <p:nvPr/>
          </p:nvSpPr>
          <p:spPr>
            <a:xfrm>
              <a:off x="0" y="0"/>
              <a:ext cx="3627313" cy="5889842"/>
            </a:xfrm>
            <a:custGeom>
              <a:avLst/>
              <a:gdLst/>
              <a:ahLst/>
              <a:cxnLst/>
              <a:rect l="l" t="t" r="r" b="b"/>
              <a:pathLst>
                <a:path w="3627313" h="5889842">
                  <a:moveTo>
                    <a:pt x="0" y="0"/>
                  </a:moveTo>
                  <a:lnTo>
                    <a:pt x="3627313" y="0"/>
                  </a:lnTo>
                  <a:lnTo>
                    <a:pt x="3627313" y="5889842"/>
                  </a:lnTo>
                  <a:lnTo>
                    <a:pt x="0" y="5889842"/>
                  </a:lnTo>
                  <a:close/>
                </a:path>
              </a:pathLst>
            </a:custGeom>
            <a:solidFill>
              <a:srgbClr val="FFF6E3"/>
            </a:solidFill>
          </p:spPr>
        </p:sp>
        <p:sp>
          <p:nvSpPr>
            <p:cNvPr id="4" name="TextBox 4"/>
            <p:cNvSpPr txBox="1"/>
            <p:nvPr/>
          </p:nvSpPr>
          <p:spPr>
            <a:xfrm>
              <a:off x="0" y="-57150"/>
              <a:ext cx="3627313" cy="594699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4494644" y="437272"/>
            <a:ext cx="10681478" cy="1060451"/>
          </a:xfrm>
          <a:prstGeom prst="rect">
            <a:avLst/>
          </a:prstGeom>
        </p:spPr>
        <p:txBody>
          <a:bodyPr lIns="0" tIns="0" rIns="0" bIns="0" rtlCol="0" anchor="t">
            <a:spAutoFit/>
          </a:bodyPr>
          <a:lstStyle/>
          <a:p>
            <a:pPr algn="ctr">
              <a:lnSpc>
                <a:spcPts val="8000"/>
              </a:lnSpc>
            </a:pPr>
            <a:r>
              <a:rPr lang="en-US" sz="8000">
                <a:solidFill>
                  <a:srgbClr val="000000"/>
                </a:solidFill>
                <a:latin typeface="Hammersmith One"/>
                <a:ea typeface="Hammersmith One"/>
                <a:cs typeface="Hammersmith One"/>
                <a:sym typeface="Hammersmith One"/>
              </a:rPr>
              <a:t>EXISTING SYSTEM</a:t>
            </a:r>
          </a:p>
        </p:txBody>
      </p:sp>
      <p:sp>
        <p:nvSpPr>
          <p:cNvPr id="6" name="TextBox 6"/>
          <p:cNvSpPr txBox="1"/>
          <p:nvPr/>
        </p:nvSpPr>
        <p:spPr>
          <a:xfrm>
            <a:off x="160590" y="1799396"/>
            <a:ext cx="18452102" cy="8318500"/>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000000"/>
                </a:solidFill>
                <a:latin typeface="Times New Roman"/>
                <a:ea typeface="Times New Roman"/>
                <a:cs typeface="Times New Roman"/>
                <a:sym typeface="Times New Roman"/>
              </a:rPr>
              <a:t>Most existing productivity applications focus mainly on basic task management features such as to-do lists, reminders, and calendar scheduling.</a:t>
            </a:r>
          </a:p>
          <a:p>
            <a:pPr algn="l">
              <a:lnSpc>
                <a:spcPts val="3499"/>
              </a:lnSpc>
            </a:pPr>
            <a:endParaRPr lang="en-US" sz="2499">
              <a:solidFill>
                <a:srgbClr val="000000"/>
              </a:solidFill>
              <a:latin typeface="Times New Roman"/>
              <a:ea typeface="Times New Roman"/>
              <a:cs typeface="Times New Roman"/>
              <a:sym typeface="Times New Roman"/>
            </a:endParaRPr>
          </a:p>
          <a:p>
            <a:pPr marL="539748" lvl="1" indent="-269874" algn="l">
              <a:lnSpc>
                <a:spcPts val="3499"/>
              </a:lnSpc>
              <a:buFont typeface="Arial"/>
              <a:buChar char="•"/>
            </a:pPr>
            <a:r>
              <a:rPr lang="en-US" sz="2499">
                <a:solidFill>
                  <a:srgbClr val="000000"/>
                </a:solidFill>
                <a:latin typeface="Times New Roman"/>
                <a:ea typeface="Times New Roman"/>
                <a:cs typeface="Times New Roman"/>
                <a:sym typeface="Times New Roman"/>
              </a:rPr>
              <a:t>These systems allow users to add tasks, set deadlines, and receive notifications, but they do not analyze the user's productivity patterns.</a:t>
            </a:r>
          </a:p>
          <a:p>
            <a:pPr algn="l">
              <a:lnSpc>
                <a:spcPts val="3499"/>
              </a:lnSpc>
            </a:pPr>
            <a:endParaRPr lang="en-US" sz="2499">
              <a:solidFill>
                <a:srgbClr val="000000"/>
              </a:solidFill>
              <a:latin typeface="Times New Roman"/>
              <a:ea typeface="Times New Roman"/>
              <a:cs typeface="Times New Roman"/>
              <a:sym typeface="Times New Roman"/>
            </a:endParaRPr>
          </a:p>
          <a:p>
            <a:pPr marL="539748" lvl="1" indent="-269874" algn="l">
              <a:lnSpc>
                <a:spcPts val="3499"/>
              </a:lnSpc>
              <a:buFont typeface="Arial"/>
              <a:buChar char="•"/>
            </a:pPr>
            <a:r>
              <a:rPr lang="en-US" sz="2499">
                <a:solidFill>
                  <a:srgbClr val="000000"/>
                </a:solidFill>
                <a:latin typeface="Times New Roman"/>
                <a:ea typeface="Times New Roman"/>
                <a:cs typeface="Times New Roman"/>
                <a:sym typeface="Times New Roman"/>
              </a:rPr>
              <a:t>Traditional task management tools treat all tasks equally, regardless of the user’s mental or physical energy level.</a:t>
            </a:r>
          </a:p>
          <a:p>
            <a:pPr algn="l">
              <a:lnSpc>
                <a:spcPts val="3499"/>
              </a:lnSpc>
            </a:pPr>
            <a:endParaRPr lang="en-US" sz="2499">
              <a:solidFill>
                <a:srgbClr val="000000"/>
              </a:solidFill>
              <a:latin typeface="Times New Roman"/>
              <a:ea typeface="Times New Roman"/>
              <a:cs typeface="Times New Roman"/>
              <a:sym typeface="Times New Roman"/>
            </a:endParaRPr>
          </a:p>
          <a:p>
            <a:pPr marL="539748" lvl="1" indent="-269874" algn="l">
              <a:lnSpc>
                <a:spcPts val="3499"/>
              </a:lnSpc>
              <a:buFont typeface="Arial"/>
              <a:buChar char="•"/>
            </a:pPr>
            <a:r>
              <a:rPr lang="en-US" sz="2499">
                <a:solidFill>
                  <a:srgbClr val="000000"/>
                </a:solidFill>
                <a:latin typeface="Times New Roman"/>
                <a:ea typeface="Times New Roman"/>
                <a:cs typeface="Times New Roman"/>
                <a:sym typeface="Times New Roman"/>
              </a:rPr>
              <a:t>In reality, human productivity varies significantly throughout the day due to fatigue, focus levels, stress, and motivation.</a:t>
            </a:r>
          </a:p>
          <a:p>
            <a:pPr algn="l">
              <a:lnSpc>
                <a:spcPts val="3499"/>
              </a:lnSpc>
            </a:pPr>
            <a:endParaRPr lang="en-US" sz="2499">
              <a:solidFill>
                <a:srgbClr val="000000"/>
              </a:solidFill>
              <a:latin typeface="Times New Roman"/>
              <a:ea typeface="Times New Roman"/>
              <a:cs typeface="Times New Roman"/>
              <a:sym typeface="Times New Roman"/>
            </a:endParaRPr>
          </a:p>
          <a:p>
            <a:pPr marL="539748" lvl="1" indent="-269874" algn="l">
              <a:lnSpc>
                <a:spcPts val="3499"/>
              </a:lnSpc>
              <a:buFont typeface="Arial"/>
              <a:buChar char="•"/>
            </a:pPr>
            <a:r>
              <a:rPr lang="en-US" sz="2499">
                <a:solidFill>
                  <a:srgbClr val="000000"/>
                </a:solidFill>
                <a:latin typeface="Times New Roman"/>
                <a:ea typeface="Times New Roman"/>
                <a:cs typeface="Times New Roman"/>
                <a:sym typeface="Times New Roman"/>
              </a:rPr>
              <a:t>Users often attempt complex tasks when they are tired or mentally exhausted, which leads to low performance and decreased efficiency.</a:t>
            </a:r>
          </a:p>
          <a:p>
            <a:pPr algn="l">
              <a:lnSpc>
                <a:spcPts val="3499"/>
              </a:lnSpc>
            </a:pPr>
            <a:endParaRPr lang="en-US" sz="2499">
              <a:solidFill>
                <a:srgbClr val="000000"/>
              </a:solidFill>
              <a:latin typeface="Times New Roman"/>
              <a:ea typeface="Times New Roman"/>
              <a:cs typeface="Times New Roman"/>
              <a:sym typeface="Times New Roman"/>
            </a:endParaRPr>
          </a:p>
          <a:p>
            <a:pPr marL="539748" lvl="1" indent="-269874" algn="l">
              <a:lnSpc>
                <a:spcPts val="3499"/>
              </a:lnSpc>
              <a:buFont typeface="Arial"/>
              <a:buChar char="•"/>
            </a:pPr>
            <a:r>
              <a:rPr lang="en-US" sz="2499">
                <a:solidFill>
                  <a:srgbClr val="000000"/>
                </a:solidFill>
                <a:latin typeface="Times New Roman"/>
                <a:ea typeface="Times New Roman"/>
                <a:cs typeface="Times New Roman"/>
                <a:sym typeface="Times New Roman"/>
              </a:rPr>
              <a:t>Existing systems lack intelligent task prioritization based on energy levels.</a:t>
            </a:r>
          </a:p>
          <a:p>
            <a:pPr algn="l">
              <a:lnSpc>
                <a:spcPts val="3499"/>
              </a:lnSpc>
            </a:pPr>
            <a:endParaRPr lang="en-US" sz="2499">
              <a:solidFill>
                <a:srgbClr val="000000"/>
              </a:solidFill>
              <a:latin typeface="Times New Roman"/>
              <a:ea typeface="Times New Roman"/>
              <a:cs typeface="Times New Roman"/>
              <a:sym typeface="Times New Roman"/>
            </a:endParaRPr>
          </a:p>
          <a:p>
            <a:pPr marL="539748" lvl="1" indent="-269874" algn="l">
              <a:lnSpc>
                <a:spcPts val="3499"/>
              </a:lnSpc>
              <a:buFont typeface="Arial"/>
              <a:buChar char="•"/>
            </a:pPr>
            <a:r>
              <a:rPr lang="en-US" sz="2499">
                <a:solidFill>
                  <a:srgbClr val="000000"/>
                </a:solidFill>
                <a:latin typeface="Times New Roman"/>
                <a:ea typeface="Times New Roman"/>
                <a:cs typeface="Times New Roman"/>
                <a:sym typeface="Times New Roman"/>
              </a:rPr>
              <a:t>There is no mechanism to match task difficulty with the user’s current productivity state.</a:t>
            </a:r>
          </a:p>
          <a:p>
            <a:pPr algn="l">
              <a:lnSpc>
                <a:spcPts val="3499"/>
              </a:lnSpc>
            </a:pPr>
            <a:endParaRPr lang="en-US" sz="2499">
              <a:solidFill>
                <a:srgbClr val="000000"/>
              </a:solidFill>
              <a:latin typeface="Times New Roman"/>
              <a:ea typeface="Times New Roman"/>
              <a:cs typeface="Times New Roman"/>
              <a:sym typeface="Times New Roman"/>
            </a:endParaRPr>
          </a:p>
          <a:p>
            <a:pPr marL="539748" lvl="1" indent="-269874" algn="l">
              <a:lnSpc>
                <a:spcPts val="3499"/>
              </a:lnSpc>
              <a:buFont typeface="Arial"/>
              <a:buChar char="•"/>
            </a:pPr>
            <a:r>
              <a:rPr lang="en-US" sz="2499">
                <a:solidFill>
                  <a:srgbClr val="000000"/>
                </a:solidFill>
                <a:latin typeface="Times New Roman"/>
                <a:ea typeface="Times New Roman"/>
                <a:cs typeface="Times New Roman"/>
                <a:sym typeface="Times New Roman"/>
              </a:rPr>
              <a:t>As a result, users may experience reduced productivity, incomplete tasks, and increased stress.</a:t>
            </a:r>
          </a:p>
          <a:p>
            <a:pPr algn="l">
              <a:lnSpc>
                <a:spcPts val="3499"/>
              </a:lnSpc>
            </a:pPr>
            <a:endParaRPr lang="en-US" sz="2499">
              <a:solidFill>
                <a:srgbClr val="000000"/>
              </a:solidFill>
              <a:latin typeface="Times New Roman"/>
              <a:ea typeface="Times New Roman"/>
              <a:cs typeface="Times New Roman"/>
              <a:sym typeface="Times New Roman"/>
            </a:endParaRPr>
          </a:p>
          <a:p>
            <a:pPr marL="539748" lvl="1" indent="-269874" algn="l">
              <a:lnSpc>
                <a:spcPts val="3499"/>
              </a:lnSpc>
              <a:buFont typeface="Arial"/>
              <a:buChar char="•"/>
            </a:pPr>
            <a:r>
              <a:rPr lang="en-US" sz="2499">
                <a:solidFill>
                  <a:srgbClr val="000000"/>
                </a:solidFill>
                <a:latin typeface="Times New Roman"/>
                <a:ea typeface="Times New Roman"/>
                <a:cs typeface="Times New Roman"/>
                <a:sym typeface="Times New Roman"/>
              </a:rPr>
              <a:t>Therefore, there is a need for a system that considers human energy fluctuations when scheduling and recommending tasks.</a:t>
            </a:r>
          </a:p>
          <a:p>
            <a:pPr algn="l">
              <a:lnSpc>
                <a:spcPts val="3499"/>
              </a:lnSpc>
            </a:pPr>
            <a:endParaRPr lang="en-US" sz="2499">
              <a:solidFill>
                <a:srgbClr val="000000"/>
              </a:solidFill>
              <a:latin typeface="Times New Roman"/>
              <a:ea typeface="Times New Roman"/>
              <a:cs typeface="Times New Roman"/>
              <a:sym typeface="Times New Roman"/>
            </a:endParaRPr>
          </a:p>
        </p:txBody>
      </p:sp>
      <p:sp>
        <p:nvSpPr>
          <p:cNvPr id="7" name="Freeform 7"/>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041674" y="-3930063"/>
            <a:ext cx="10273515" cy="18086940"/>
            <a:chOff x="0" y="0"/>
            <a:chExt cx="3177217" cy="5740589"/>
          </a:xfrm>
        </p:grpSpPr>
        <p:sp>
          <p:nvSpPr>
            <p:cNvPr id="3" name="Freeform 3"/>
            <p:cNvSpPr/>
            <p:nvPr/>
          </p:nvSpPr>
          <p:spPr>
            <a:xfrm>
              <a:off x="0" y="0"/>
              <a:ext cx="3177217" cy="5740589"/>
            </a:xfrm>
            <a:custGeom>
              <a:avLst/>
              <a:gdLst/>
              <a:ahLst/>
              <a:cxnLst/>
              <a:rect l="l" t="t" r="r" b="b"/>
              <a:pathLst>
                <a:path w="3177217" h="5740589">
                  <a:moveTo>
                    <a:pt x="0" y="0"/>
                  </a:moveTo>
                  <a:lnTo>
                    <a:pt x="3177217" y="0"/>
                  </a:lnTo>
                  <a:lnTo>
                    <a:pt x="3177217" y="5740589"/>
                  </a:lnTo>
                  <a:lnTo>
                    <a:pt x="0" y="5740589"/>
                  </a:lnTo>
                  <a:close/>
                </a:path>
              </a:pathLst>
            </a:custGeom>
            <a:solidFill>
              <a:srgbClr val="FFF6E3"/>
            </a:solidFill>
          </p:spPr>
        </p:sp>
        <p:sp>
          <p:nvSpPr>
            <p:cNvPr id="4" name="TextBox 4"/>
            <p:cNvSpPr txBox="1"/>
            <p:nvPr/>
          </p:nvSpPr>
          <p:spPr>
            <a:xfrm>
              <a:off x="0" y="-57150"/>
              <a:ext cx="3177217" cy="5797739"/>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4241425" y="487828"/>
            <a:ext cx="10681478" cy="882019"/>
          </a:xfrm>
          <a:prstGeom prst="rect">
            <a:avLst/>
          </a:prstGeom>
        </p:spPr>
        <p:txBody>
          <a:bodyPr lIns="0" tIns="0" rIns="0" bIns="0" rtlCol="0" anchor="t">
            <a:spAutoFit/>
          </a:bodyPr>
          <a:lstStyle/>
          <a:p>
            <a:pPr algn="ctr">
              <a:lnSpc>
                <a:spcPts val="6600"/>
              </a:lnSpc>
            </a:pPr>
            <a:r>
              <a:rPr lang="en-US" sz="6600">
                <a:solidFill>
                  <a:srgbClr val="000000"/>
                </a:solidFill>
                <a:latin typeface="Hammersmith One"/>
                <a:ea typeface="Hammersmith One"/>
                <a:cs typeface="Hammersmith One"/>
                <a:sym typeface="Hammersmith One"/>
              </a:rPr>
              <a:t>PROPOSED SYSTEM</a:t>
            </a:r>
          </a:p>
        </p:txBody>
      </p:sp>
      <p:sp>
        <p:nvSpPr>
          <p:cNvPr id="6" name="TextBox 6"/>
          <p:cNvSpPr txBox="1"/>
          <p:nvPr/>
        </p:nvSpPr>
        <p:spPr>
          <a:xfrm>
            <a:off x="135430" y="2045287"/>
            <a:ext cx="18017141" cy="7434580"/>
          </a:xfrm>
          <a:prstGeom prst="rect">
            <a:avLst/>
          </a:prstGeom>
        </p:spPr>
        <p:txBody>
          <a:bodyPr lIns="0" tIns="0" rIns="0" bIns="0" rtlCol="0" anchor="t">
            <a:spAutoFit/>
          </a:bodyPr>
          <a:lstStyle/>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FlowAlign is an energy-driven productivity companion designed to help users organize their tasks based on their current energy levels.</a:t>
            </a:r>
          </a:p>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The system introduces an intelligent way of managing tasks by aligning task difficulty with the user’s mental and physical energy state.</a:t>
            </a:r>
          </a:p>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Users can categorize tasks into High Energy, Medium Energy, and Low Energy tasks depending on the effort required.</a:t>
            </a:r>
          </a:p>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The application allows users to select their current energy level at any time during the day.</a:t>
            </a:r>
          </a:p>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Based on this selection, FlowAlign recommends tasks that best match the user's productivity level.</a:t>
            </a:r>
          </a:p>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High-energy tasks such as complex studying, coding, or problem solving are suggested when the user is highly focused.</a:t>
            </a:r>
          </a:p>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Medium-energy tasks like planning, organizing notes, or reviewing work are suggested during moderate productivity levels.</a:t>
            </a:r>
          </a:p>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Low-energy tasks such as checking emails, simple updates, or small administrative work are suggested when the user feels tired.</a:t>
            </a:r>
          </a:p>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This system ensures that users work smarter instead of harder by doing the right tasks at the right time.</a:t>
            </a:r>
          </a:p>
          <a:p>
            <a:pPr marL="604518" lvl="1" indent="-302259"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FlowAlign ultimately helps improve time management, focus, productivity, and work-life balance.</a:t>
            </a:r>
          </a:p>
          <a:p>
            <a:pPr algn="l">
              <a:lnSpc>
                <a:spcPts val="3919"/>
              </a:lnSpc>
              <a:spcBef>
                <a:spcPct val="0"/>
              </a:spcBef>
            </a:pPr>
            <a:endParaRPr lang="en-US" sz="2799">
              <a:solidFill>
                <a:srgbClr val="000000"/>
              </a:solidFill>
              <a:latin typeface="Times New Roman"/>
              <a:ea typeface="Times New Roman"/>
              <a:cs typeface="Times New Roman"/>
              <a:sym typeface="Times New Roman"/>
            </a:endParaRPr>
          </a:p>
        </p:txBody>
      </p:sp>
      <p:sp>
        <p:nvSpPr>
          <p:cNvPr id="7" name="Freeform 7"/>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27308" y="-3251727"/>
            <a:ext cx="20108057" cy="14764697"/>
            <a:chOff x="0" y="0"/>
            <a:chExt cx="5295949" cy="3888645"/>
          </a:xfrm>
        </p:grpSpPr>
        <p:sp>
          <p:nvSpPr>
            <p:cNvPr id="3" name="Freeform 3"/>
            <p:cNvSpPr/>
            <p:nvPr/>
          </p:nvSpPr>
          <p:spPr>
            <a:xfrm>
              <a:off x="0" y="0"/>
              <a:ext cx="5295949" cy="3888644"/>
            </a:xfrm>
            <a:custGeom>
              <a:avLst/>
              <a:gdLst/>
              <a:ahLst/>
              <a:cxnLst/>
              <a:rect l="l" t="t" r="r" b="b"/>
              <a:pathLst>
                <a:path w="5295949" h="3888644">
                  <a:moveTo>
                    <a:pt x="0" y="0"/>
                  </a:moveTo>
                  <a:lnTo>
                    <a:pt x="5295949" y="0"/>
                  </a:lnTo>
                  <a:lnTo>
                    <a:pt x="5295949" y="3888644"/>
                  </a:lnTo>
                  <a:lnTo>
                    <a:pt x="0" y="3888644"/>
                  </a:lnTo>
                  <a:close/>
                </a:path>
              </a:pathLst>
            </a:custGeom>
            <a:solidFill>
              <a:srgbClr val="FFF6E3"/>
            </a:solidFill>
          </p:spPr>
        </p:sp>
        <p:sp>
          <p:nvSpPr>
            <p:cNvPr id="4" name="TextBox 4"/>
            <p:cNvSpPr txBox="1"/>
            <p:nvPr/>
          </p:nvSpPr>
          <p:spPr>
            <a:xfrm>
              <a:off x="0" y="-57150"/>
              <a:ext cx="5295949" cy="394579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36363" y="1817374"/>
            <a:ext cx="16415275" cy="7961408"/>
          </a:xfrm>
          <a:custGeom>
            <a:avLst/>
            <a:gdLst/>
            <a:ahLst/>
            <a:cxnLst/>
            <a:rect l="l" t="t" r="r" b="b"/>
            <a:pathLst>
              <a:path w="16415275" h="7961408">
                <a:moveTo>
                  <a:pt x="0" y="0"/>
                </a:moveTo>
                <a:lnTo>
                  <a:pt x="16415274" y="0"/>
                </a:lnTo>
                <a:lnTo>
                  <a:pt x="16415274" y="7961409"/>
                </a:lnTo>
                <a:lnTo>
                  <a:pt x="0" y="7961409"/>
                </a:lnTo>
                <a:lnTo>
                  <a:pt x="0" y="0"/>
                </a:lnTo>
                <a:close/>
              </a:path>
            </a:pathLst>
          </a:custGeom>
          <a:blipFill>
            <a:blip r:embed="rId2"/>
            <a:stretch>
              <a:fillRect/>
            </a:stretch>
          </a:blipFill>
        </p:spPr>
      </p:sp>
      <p:sp>
        <p:nvSpPr>
          <p:cNvPr id="6" name="TextBox 6"/>
          <p:cNvSpPr txBox="1"/>
          <p:nvPr/>
        </p:nvSpPr>
        <p:spPr>
          <a:xfrm>
            <a:off x="2988210" y="516961"/>
            <a:ext cx="12311579" cy="894084"/>
          </a:xfrm>
          <a:prstGeom prst="rect">
            <a:avLst/>
          </a:prstGeom>
        </p:spPr>
        <p:txBody>
          <a:bodyPr lIns="0" tIns="0" rIns="0" bIns="0" rtlCol="0" anchor="t">
            <a:spAutoFit/>
          </a:bodyPr>
          <a:lstStyle/>
          <a:p>
            <a:pPr algn="ctr">
              <a:lnSpc>
                <a:spcPts val="6700"/>
              </a:lnSpc>
            </a:pPr>
            <a:r>
              <a:rPr lang="en-US" sz="6700">
                <a:solidFill>
                  <a:srgbClr val="000000"/>
                </a:solidFill>
                <a:latin typeface="Hammersmith One"/>
                <a:ea typeface="Hammersmith One"/>
                <a:cs typeface="Hammersmith One"/>
                <a:sym typeface="Hammersmith One"/>
              </a:rPr>
              <a:t>SYSTEM ARCHITECTURE</a:t>
            </a:r>
          </a:p>
        </p:txBody>
      </p:sp>
      <p:sp>
        <p:nvSpPr>
          <p:cNvPr id="7" name="Freeform 7"/>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3"/>
            <a:stretch>
              <a:fillRect b="-7106"/>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836" y="54740"/>
            <a:ext cx="18240850" cy="10217423"/>
            <a:chOff x="0" y="0"/>
            <a:chExt cx="6093521" cy="3929236"/>
          </a:xfrm>
        </p:grpSpPr>
        <p:sp>
          <p:nvSpPr>
            <p:cNvPr id="3" name="Freeform 3"/>
            <p:cNvSpPr/>
            <p:nvPr/>
          </p:nvSpPr>
          <p:spPr>
            <a:xfrm>
              <a:off x="0" y="0"/>
              <a:ext cx="6093521" cy="3929236"/>
            </a:xfrm>
            <a:custGeom>
              <a:avLst/>
              <a:gdLst/>
              <a:ahLst/>
              <a:cxnLst/>
              <a:rect l="l" t="t" r="r" b="b"/>
              <a:pathLst>
                <a:path w="6093521" h="3929236">
                  <a:moveTo>
                    <a:pt x="0" y="0"/>
                  </a:moveTo>
                  <a:lnTo>
                    <a:pt x="6093521" y="0"/>
                  </a:lnTo>
                  <a:lnTo>
                    <a:pt x="6093521" y="3929236"/>
                  </a:lnTo>
                  <a:lnTo>
                    <a:pt x="0" y="3929236"/>
                  </a:lnTo>
                  <a:close/>
                </a:path>
              </a:pathLst>
            </a:custGeom>
            <a:solidFill>
              <a:srgbClr val="FFF6E3"/>
            </a:solidFill>
          </p:spPr>
        </p:sp>
        <p:sp>
          <p:nvSpPr>
            <p:cNvPr id="4" name="TextBox 4"/>
            <p:cNvSpPr txBox="1"/>
            <p:nvPr/>
          </p:nvSpPr>
          <p:spPr>
            <a:xfrm>
              <a:off x="0" y="-57150"/>
              <a:ext cx="6093521" cy="3986386"/>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4082979" y="204240"/>
            <a:ext cx="10607263" cy="862714"/>
          </a:xfrm>
          <a:prstGeom prst="rect">
            <a:avLst/>
          </a:prstGeom>
        </p:spPr>
        <p:txBody>
          <a:bodyPr lIns="0" tIns="0" rIns="0" bIns="0" rtlCol="0" anchor="t">
            <a:spAutoFit/>
          </a:bodyPr>
          <a:lstStyle/>
          <a:p>
            <a:pPr algn="ctr">
              <a:lnSpc>
                <a:spcPts val="6572"/>
              </a:lnSpc>
            </a:pPr>
            <a:r>
              <a:rPr lang="en-US" sz="6200">
                <a:solidFill>
                  <a:srgbClr val="000000"/>
                </a:solidFill>
                <a:latin typeface="Hammersmith One"/>
                <a:ea typeface="Hammersmith One"/>
                <a:cs typeface="Hammersmith One"/>
                <a:sym typeface="Hammersmith One"/>
              </a:rPr>
              <a:t>PROJECT MODULES</a:t>
            </a:r>
          </a:p>
        </p:txBody>
      </p:sp>
      <p:grpSp>
        <p:nvGrpSpPr>
          <p:cNvPr id="6" name="Group 6"/>
          <p:cNvGrpSpPr/>
          <p:nvPr/>
        </p:nvGrpSpPr>
        <p:grpSpPr>
          <a:xfrm>
            <a:off x="744292" y="1730351"/>
            <a:ext cx="4657732" cy="3413149"/>
            <a:chOff x="0" y="0"/>
            <a:chExt cx="1226728" cy="898936"/>
          </a:xfrm>
        </p:grpSpPr>
        <p:sp>
          <p:nvSpPr>
            <p:cNvPr id="7" name="Freeform 7"/>
            <p:cNvSpPr/>
            <p:nvPr/>
          </p:nvSpPr>
          <p:spPr>
            <a:xfrm>
              <a:off x="0" y="0"/>
              <a:ext cx="1226728" cy="898936"/>
            </a:xfrm>
            <a:custGeom>
              <a:avLst/>
              <a:gdLst/>
              <a:ahLst/>
              <a:cxnLst/>
              <a:rect l="l" t="t" r="r" b="b"/>
              <a:pathLst>
                <a:path w="1226728" h="898936">
                  <a:moveTo>
                    <a:pt x="0" y="0"/>
                  </a:moveTo>
                  <a:lnTo>
                    <a:pt x="1226728" y="0"/>
                  </a:lnTo>
                  <a:lnTo>
                    <a:pt x="1226728" y="898936"/>
                  </a:lnTo>
                  <a:lnTo>
                    <a:pt x="0" y="898936"/>
                  </a:lnTo>
                  <a:close/>
                </a:path>
              </a:pathLst>
            </a:custGeom>
            <a:solidFill>
              <a:srgbClr val="FFFFFF"/>
            </a:solidFill>
          </p:spPr>
        </p:sp>
        <p:sp>
          <p:nvSpPr>
            <p:cNvPr id="8" name="TextBox 8"/>
            <p:cNvSpPr txBox="1"/>
            <p:nvPr/>
          </p:nvSpPr>
          <p:spPr>
            <a:xfrm>
              <a:off x="0" y="-57150"/>
              <a:ext cx="1226728" cy="956086"/>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6839489" y="1730351"/>
            <a:ext cx="4742524" cy="3320466"/>
            <a:chOff x="0" y="0"/>
            <a:chExt cx="1249060" cy="874526"/>
          </a:xfrm>
        </p:grpSpPr>
        <p:sp>
          <p:nvSpPr>
            <p:cNvPr id="10" name="Freeform 10"/>
            <p:cNvSpPr/>
            <p:nvPr/>
          </p:nvSpPr>
          <p:spPr>
            <a:xfrm>
              <a:off x="0" y="0"/>
              <a:ext cx="1249060" cy="874526"/>
            </a:xfrm>
            <a:custGeom>
              <a:avLst/>
              <a:gdLst/>
              <a:ahLst/>
              <a:cxnLst/>
              <a:rect l="l" t="t" r="r" b="b"/>
              <a:pathLst>
                <a:path w="1249060" h="874526">
                  <a:moveTo>
                    <a:pt x="0" y="0"/>
                  </a:moveTo>
                  <a:lnTo>
                    <a:pt x="1249060" y="0"/>
                  </a:lnTo>
                  <a:lnTo>
                    <a:pt x="1249060" y="874526"/>
                  </a:lnTo>
                  <a:lnTo>
                    <a:pt x="0" y="874526"/>
                  </a:lnTo>
                  <a:close/>
                </a:path>
              </a:pathLst>
            </a:custGeom>
            <a:solidFill>
              <a:srgbClr val="FFFFFF"/>
            </a:solidFill>
          </p:spPr>
        </p:sp>
        <p:sp>
          <p:nvSpPr>
            <p:cNvPr id="11" name="TextBox 11"/>
            <p:cNvSpPr txBox="1"/>
            <p:nvPr/>
          </p:nvSpPr>
          <p:spPr>
            <a:xfrm>
              <a:off x="0" y="-57150"/>
              <a:ext cx="1249060" cy="931676"/>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3019479" y="1730351"/>
            <a:ext cx="4499840" cy="3320466"/>
            <a:chOff x="0" y="0"/>
            <a:chExt cx="1185143" cy="874526"/>
          </a:xfrm>
        </p:grpSpPr>
        <p:sp>
          <p:nvSpPr>
            <p:cNvPr id="13" name="Freeform 13"/>
            <p:cNvSpPr/>
            <p:nvPr/>
          </p:nvSpPr>
          <p:spPr>
            <a:xfrm>
              <a:off x="0" y="0"/>
              <a:ext cx="1185143" cy="874526"/>
            </a:xfrm>
            <a:custGeom>
              <a:avLst/>
              <a:gdLst/>
              <a:ahLst/>
              <a:cxnLst/>
              <a:rect l="l" t="t" r="r" b="b"/>
              <a:pathLst>
                <a:path w="1185143" h="874526">
                  <a:moveTo>
                    <a:pt x="0" y="0"/>
                  </a:moveTo>
                  <a:lnTo>
                    <a:pt x="1185143" y="0"/>
                  </a:lnTo>
                  <a:lnTo>
                    <a:pt x="1185143" y="874526"/>
                  </a:lnTo>
                  <a:lnTo>
                    <a:pt x="0" y="874526"/>
                  </a:lnTo>
                  <a:close/>
                </a:path>
              </a:pathLst>
            </a:custGeom>
            <a:solidFill>
              <a:srgbClr val="FFFFFF"/>
            </a:solidFill>
          </p:spPr>
        </p:sp>
        <p:sp>
          <p:nvSpPr>
            <p:cNvPr id="14" name="TextBox 14"/>
            <p:cNvSpPr txBox="1"/>
            <p:nvPr/>
          </p:nvSpPr>
          <p:spPr>
            <a:xfrm>
              <a:off x="0" y="-57150"/>
              <a:ext cx="1185143" cy="931676"/>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926968" y="5898515"/>
            <a:ext cx="4239821" cy="3112451"/>
            <a:chOff x="0" y="0"/>
            <a:chExt cx="1116661" cy="819740"/>
          </a:xfrm>
        </p:grpSpPr>
        <p:sp>
          <p:nvSpPr>
            <p:cNvPr id="16" name="Freeform 16"/>
            <p:cNvSpPr/>
            <p:nvPr/>
          </p:nvSpPr>
          <p:spPr>
            <a:xfrm>
              <a:off x="0" y="0"/>
              <a:ext cx="1116661" cy="819740"/>
            </a:xfrm>
            <a:custGeom>
              <a:avLst/>
              <a:gdLst/>
              <a:ahLst/>
              <a:cxnLst/>
              <a:rect l="l" t="t" r="r" b="b"/>
              <a:pathLst>
                <a:path w="1116661" h="819740">
                  <a:moveTo>
                    <a:pt x="0" y="0"/>
                  </a:moveTo>
                  <a:lnTo>
                    <a:pt x="1116661" y="0"/>
                  </a:lnTo>
                  <a:lnTo>
                    <a:pt x="1116661" y="819740"/>
                  </a:lnTo>
                  <a:lnTo>
                    <a:pt x="0" y="819740"/>
                  </a:lnTo>
                  <a:close/>
                </a:path>
              </a:pathLst>
            </a:custGeom>
            <a:solidFill>
              <a:srgbClr val="FFFFFF"/>
            </a:solidFill>
          </p:spPr>
        </p:sp>
        <p:sp>
          <p:nvSpPr>
            <p:cNvPr id="17" name="TextBox 17"/>
            <p:cNvSpPr txBox="1"/>
            <p:nvPr/>
          </p:nvSpPr>
          <p:spPr>
            <a:xfrm>
              <a:off x="0" y="-57150"/>
              <a:ext cx="1116661" cy="87689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242406" y="5898515"/>
            <a:ext cx="4239821" cy="3112451"/>
            <a:chOff x="0" y="0"/>
            <a:chExt cx="1116661" cy="819740"/>
          </a:xfrm>
        </p:grpSpPr>
        <p:sp>
          <p:nvSpPr>
            <p:cNvPr id="19" name="Freeform 19"/>
            <p:cNvSpPr/>
            <p:nvPr/>
          </p:nvSpPr>
          <p:spPr>
            <a:xfrm>
              <a:off x="0" y="0"/>
              <a:ext cx="1116661" cy="819740"/>
            </a:xfrm>
            <a:custGeom>
              <a:avLst/>
              <a:gdLst/>
              <a:ahLst/>
              <a:cxnLst/>
              <a:rect l="l" t="t" r="r" b="b"/>
              <a:pathLst>
                <a:path w="1116661" h="819740">
                  <a:moveTo>
                    <a:pt x="0" y="0"/>
                  </a:moveTo>
                  <a:lnTo>
                    <a:pt x="1116661" y="0"/>
                  </a:lnTo>
                  <a:lnTo>
                    <a:pt x="1116661" y="819740"/>
                  </a:lnTo>
                  <a:lnTo>
                    <a:pt x="0" y="819740"/>
                  </a:lnTo>
                  <a:close/>
                </a:path>
              </a:pathLst>
            </a:custGeom>
            <a:solidFill>
              <a:srgbClr val="FFFFFF"/>
            </a:solidFill>
          </p:spPr>
        </p:sp>
        <p:sp>
          <p:nvSpPr>
            <p:cNvPr id="20" name="TextBox 20"/>
            <p:cNvSpPr txBox="1"/>
            <p:nvPr/>
          </p:nvSpPr>
          <p:spPr>
            <a:xfrm>
              <a:off x="0" y="-57150"/>
              <a:ext cx="1116661" cy="87689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031668" y="1875856"/>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User Input Module</a:t>
            </a:r>
          </a:p>
        </p:txBody>
      </p:sp>
      <p:sp>
        <p:nvSpPr>
          <p:cNvPr id="22" name="TextBox 22"/>
          <p:cNvSpPr txBox="1"/>
          <p:nvPr/>
        </p:nvSpPr>
        <p:spPr>
          <a:xfrm>
            <a:off x="7090841" y="1875856"/>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Task Storage Module</a:t>
            </a:r>
          </a:p>
        </p:txBody>
      </p:sp>
      <p:sp>
        <p:nvSpPr>
          <p:cNvPr id="23" name="TextBox 23"/>
          <p:cNvSpPr txBox="1"/>
          <p:nvPr/>
        </p:nvSpPr>
        <p:spPr>
          <a:xfrm>
            <a:off x="13149488" y="1875856"/>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Energy Classification Module</a:t>
            </a:r>
          </a:p>
        </p:txBody>
      </p:sp>
      <p:sp>
        <p:nvSpPr>
          <p:cNvPr id="24" name="TextBox 24"/>
          <p:cNvSpPr txBox="1"/>
          <p:nvPr/>
        </p:nvSpPr>
        <p:spPr>
          <a:xfrm>
            <a:off x="3926968" y="5976962"/>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Recommendation Module</a:t>
            </a:r>
          </a:p>
        </p:txBody>
      </p:sp>
      <p:sp>
        <p:nvSpPr>
          <p:cNvPr id="25" name="TextBox 25"/>
          <p:cNvSpPr txBox="1"/>
          <p:nvPr/>
        </p:nvSpPr>
        <p:spPr>
          <a:xfrm>
            <a:off x="10242406" y="5976962"/>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Display Module</a:t>
            </a:r>
          </a:p>
        </p:txBody>
      </p:sp>
      <p:sp>
        <p:nvSpPr>
          <p:cNvPr id="26" name="TextBox 26"/>
          <p:cNvSpPr txBox="1"/>
          <p:nvPr/>
        </p:nvSpPr>
        <p:spPr>
          <a:xfrm>
            <a:off x="1031668" y="2623185"/>
            <a:ext cx="4082979" cy="2408555"/>
          </a:xfrm>
          <a:prstGeom prst="rect">
            <a:avLst/>
          </a:prstGeom>
        </p:spPr>
        <p:txBody>
          <a:bodyPr lIns="0" tIns="0" rIns="0" bIns="0" rtlCol="0" anchor="t">
            <a:spAutoFit/>
          </a:bodyPr>
          <a:lstStyle/>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Allows users to add new tasks to the system.</a:t>
            </a:r>
          </a:p>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Users specify the task name, description, and required energy level.</a:t>
            </a:r>
          </a:p>
          <a:p>
            <a:pPr algn="l">
              <a:lnSpc>
                <a:spcPts val="3219"/>
              </a:lnSpc>
              <a:spcBef>
                <a:spcPct val="0"/>
              </a:spcBef>
            </a:pPr>
            <a:endParaRPr lang="en-US" sz="2299">
              <a:solidFill>
                <a:srgbClr val="000000"/>
              </a:solidFill>
              <a:latin typeface="Times New Roman"/>
              <a:ea typeface="Times New Roman"/>
              <a:cs typeface="Times New Roman"/>
              <a:sym typeface="Times New Roman"/>
            </a:endParaRPr>
          </a:p>
        </p:txBody>
      </p:sp>
      <p:sp>
        <p:nvSpPr>
          <p:cNvPr id="27" name="TextBox 27"/>
          <p:cNvSpPr txBox="1"/>
          <p:nvPr/>
        </p:nvSpPr>
        <p:spPr>
          <a:xfrm>
            <a:off x="6943967" y="2423160"/>
            <a:ext cx="4533569" cy="2808605"/>
          </a:xfrm>
          <a:prstGeom prst="rect">
            <a:avLst/>
          </a:prstGeom>
        </p:spPr>
        <p:txBody>
          <a:bodyPr lIns="0" tIns="0" rIns="0" bIns="0" rtlCol="0" anchor="t">
            <a:spAutoFit/>
          </a:bodyPr>
          <a:lstStyle/>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Stores all tasks entered by the user.</a:t>
            </a:r>
          </a:p>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Uses data structures to maintain tasks in an organized way.</a:t>
            </a:r>
          </a:p>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Enables quick access and modification of tasks.</a:t>
            </a:r>
          </a:p>
          <a:p>
            <a:pPr algn="l">
              <a:lnSpc>
                <a:spcPts val="3219"/>
              </a:lnSpc>
              <a:spcBef>
                <a:spcPct val="0"/>
              </a:spcBef>
            </a:pPr>
            <a:endParaRPr lang="en-US" sz="2299">
              <a:solidFill>
                <a:srgbClr val="000000"/>
              </a:solidFill>
              <a:latin typeface="Times New Roman"/>
              <a:ea typeface="Times New Roman"/>
              <a:cs typeface="Times New Roman"/>
              <a:sym typeface="Times New Roman"/>
            </a:endParaRPr>
          </a:p>
        </p:txBody>
      </p:sp>
      <p:sp>
        <p:nvSpPr>
          <p:cNvPr id="28" name="TextBox 28"/>
          <p:cNvSpPr txBox="1"/>
          <p:nvPr/>
        </p:nvSpPr>
        <p:spPr>
          <a:xfrm>
            <a:off x="13125064" y="2521516"/>
            <a:ext cx="4533569" cy="2408555"/>
          </a:xfrm>
          <a:prstGeom prst="rect">
            <a:avLst/>
          </a:prstGeom>
        </p:spPr>
        <p:txBody>
          <a:bodyPr lIns="0" tIns="0" rIns="0" bIns="0" rtlCol="0" anchor="t">
            <a:spAutoFit/>
          </a:bodyPr>
          <a:lstStyle/>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Categorizes tasks into high, medium, or low energy groups.</a:t>
            </a:r>
          </a:p>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Helps the system identify the suitable tasks for different productivity states.</a:t>
            </a:r>
          </a:p>
          <a:p>
            <a:pPr algn="l">
              <a:lnSpc>
                <a:spcPts val="3219"/>
              </a:lnSpc>
              <a:spcBef>
                <a:spcPct val="0"/>
              </a:spcBef>
            </a:pPr>
            <a:endParaRPr lang="en-US" sz="2299">
              <a:solidFill>
                <a:srgbClr val="000000"/>
              </a:solidFill>
              <a:latin typeface="Times New Roman"/>
              <a:ea typeface="Times New Roman"/>
              <a:cs typeface="Times New Roman"/>
              <a:sym typeface="Times New Roman"/>
            </a:endParaRPr>
          </a:p>
        </p:txBody>
      </p:sp>
      <p:sp>
        <p:nvSpPr>
          <p:cNvPr id="29" name="TextBox 29"/>
          <p:cNvSpPr txBox="1"/>
          <p:nvPr/>
        </p:nvSpPr>
        <p:spPr>
          <a:xfrm>
            <a:off x="3853531" y="6527508"/>
            <a:ext cx="4386695" cy="2808605"/>
          </a:xfrm>
          <a:prstGeom prst="rect">
            <a:avLst/>
          </a:prstGeom>
        </p:spPr>
        <p:txBody>
          <a:bodyPr lIns="0" tIns="0" rIns="0" bIns="0" rtlCol="0" anchor="t">
            <a:spAutoFit/>
          </a:bodyPr>
          <a:lstStyle/>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The main intelligence of FlowAlign.</a:t>
            </a:r>
          </a:p>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Matches the user's current energy level with stored tasks.</a:t>
            </a:r>
          </a:p>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Provides personalized task recommendations.</a:t>
            </a:r>
          </a:p>
          <a:p>
            <a:pPr algn="l">
              <a:lnSpc>
                <a:spcPts val="3219"/>
              </a:lnSpc>
              <a:spcBef>
                <a:spcPct val="0"/>
              </a:spcBef>
            </a:pPr>
            <a:endParaRPr lang="en-US" sz="2299">
              <a:solidFill>
                <a:srgbClr val="000000"/>
              </a:solidFill>
              <a:latin typeface="Times New Roman"/>
              <a:ea typeface="Times New Roman"/>
              <a:cs typeface="Times New Roman"/>
              <a:sym typeface="Times New Roman"/>
            </a:endParaRPr>
          </a:p>
        </p:txBody>
      </p:sp>
      <p:sp>
        <p:nvSpPr>
          <p:cNvPr id="30" name="TextBox 30"/>
          <p:cNvSpPr txBox="1"/>
          <p:nvPr/>
        </p:nvSpPr>
        <p:spPr>
          <a:xfrm>
            <a:off x="10156673" y="6622758"/>
            <a:ext cx="4533569" cy="2408555"/>
          </a:xfrm>
          <a:prstGeom prst="rect">
            <a:avLst/>
          </a:prstGeom>
        </p:spPr>
        <p:txBody>
          <a:bodyPr lIns="0" tIns="0" rIns="0" bIns="0" rtlCol="0" anchor="t">
            <a:spAutoFit/>
          </a:bodyPr>
          <a:lstStyle/>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Shows recommended tasks and task lists on the interface.</a:t>
            </a:r>
          </a:p>
          <a:p>
            <a:pPr marL="496567" lvl="1" indent="-248284" algn="l">
              <a:lnSpc>
                <a:spcPts val="3219"/>
              </a:lnSpc>
              <a:spcBef>
                <a:spcPct val="0"/>
              </a:spcBef>
              <a:buFont typeface="Arial"/>
              <a:buChar char="•"/>
            </a:pPr>
            <a:r>
              <a:rPr lang="en-US" sz="2299">
                <a:solidFill>
                  <a:srgbClr val="000000"/>
                </a:solidFill>
                <a:latin typeface="Times New Roman"/>
                <a:ea typeface="Times New Roman"/>
                <a:cs typeface="Times New Roman"/>
                <a:sym typeface="Times New Roman"/>
              </a:rPr>
              <a:t>Provides a clear and easy-to-understand productivity dashboard.</a:t>
            </a:r>
          </a:p>
          <a:p>
            <a:pPr algn="l">
              <a:lnSpc>
                <a:spcPts val="3219"/>
              </a:lnSpc>
              <a:spcBef>
                <a:spcPct val="0"/>
              </a:spcBef>
            </a:pPr>
            <a:endParaRPr lang="en-US" sz="2299">
              <a:solidFill>
                <a:srgbClr val="000000"/>
              </a:solidFill>
              <a:latin typeface="Times New Roman"/>
              <a:ea typeface="Times New Roman"/>
              <a:cs typeface="Times New Roman"/>
              <a:sym typeface="Times New Roman"/>
            </a:endParaRPr>
          </a:p>
        </p:txBody>
      </p:sp>
      <p:sp>
        <p:nvSpPr>
          <p:cNvPr id="31" name="Freeform 31"/>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3989217" y="-4061987"/>
            <a:ext cx="10259300" cy="18317416"/>
            <a:chOff x="0" y="0"/>
            <a:chExt cx="5212573" cy="5971689"/>
          </a:xfrm>
        </p:grpSpPr>
        <p:sp>
          <p:nvSpPr>
            <p:cNvPr id="3" name="Freeform 3"/>
            <p:cNvSpPr/>
            <p:nvPr/>
          </p:nvSpPr>
          <p:spPr>
            <a:xfrm>
              <a:off x="0" y="0"/>
              <a:ext cx="5212573" cy="5971689"/>
            </a:xfrm>
            <a:custGeom>
              <a:avLst/>
              <a:gdLst/>
              <a:ahLst/>
              <a:cxnLst/>
              <a:rect l="l" t="t" r="r" b="b"/>
              <a:pathLst>
                <a:path w="5212573" h="5971689">
                  <a:moveTo>
                    <a:pt x="0" y="0"/>
                  </a:moveTo>
                  <a:lnTo>
                    <a:pt x="5212573" y="0"/>
                  </a:lnTo>
                  <a:lnTo>
                    <a:pt x="5212573" y="5971689"/>
                  </a:lnTo>
                  <a:lnTo>
                    <a:pt x="0" y="5971689"/>
                  </a:lnTo>
                  <a:close/>
                </a:path>
              </a:pathLst>
            </a:custGeom>
            <a:solidFill>
              <a:srgbClr val="FFF6E3"/>
            </a:solidFill>
          </p:spPr>
        </p:sp>
        <p:sp>
          <p:nvSpPr>
            <p:cNvPr id="4" name="TextBox 4"/>
            <p:cNvSpPr txBox="1"/>
            <p:nvPr/>
          </p:nvSpPr>
          <p:spPr>
            <a:xfrm>
              <a:off x="0" y="-57150"/>
              <a:ext cx="5212573" cy="6028839"/>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6137630" y="1143000"/>
            <a:ext cx="6012740" cy="857890"/>
          </a:xfrm>
          <a:prstGeom prst="rect">
            <a:avLst/>
          </a:prstGeom>
        </p:spPr>
        <p:txBody>
          <a:bodyPr lIns="0" tIns="0" rIns="0" bIns="0" rtlCol="0" anchor="t">
            <a:spAutoFit/>
          </a:bodyPr>
          <a:lstStyle/>
          <a:p>
            <a:pPr algn="ctr">
              <a:lnSpc>
                <a:spcPts val="6400"/>
              </a:lnSpc>
            </a:pPr>
            <a:r>
              <a:rPr lang="en-US" sz="6400">
                <a:solidFill>
                  <a:srgbClr val="000000"/>
                </a:solidFill>
                <a:latin typeface="Hammersmith One"/>
                <a:ea typeface="Hammersmith One"/>
                <a:cs typeface="Hammersmith One"/>
                <a:sym typeface="Hammersmith One"/>
              </a:rPr>
              <a:t>OBJECTIVES</a:t>
            </a:r>
          </a:p>
        </p:txBody>
      </p:sp>
      <p:sp>
        <p:nvSpPr>
          <p:cNvPr id="6" name="TextBox 6"/>
          <p:cNvSpPr txBox="1"/>
          <p:nvPr/>
        </p:nvSpPr>
        <p:spPr>
          <a:xfrm>
            <a:off x="579985" y="2837466"/>
            <a:ext cx="17128030" cy="4958080"/>
          </a:xfrm>
          <a:prstGeom prst="rect">
            <a:avLst/>
          </a:prstGeom>
        </p:spPr>
        <p:txBody>
          <a:bodyPr lIns="0" tIns="0" rIns="0" bIns="0" rtlCol="0" anchor="t">
            <a:spAutoFit/>
          </a:bodyPr>
          <a:lstStyle/>
          <a:p>
            <a:pPr algn="l">
              <a:lnSpc>
                <a:spcPts val="3919"/>
              </a:lnSpc>
            </a:pPr>
            <a:r>
              <a:rPr lang="en-US" sz="2799">
                <a:solidFill>
                  <a:srgbClr val="000000"/>
                </a:solidFill>
                <a:latin typeface="Times New Roman"/>
                <a:ea typeface="Times New Roman"/>
                <a:cs typeface="Times New Roman"/>
                <a:sym typeface="Times New Roman"/>
              </a:rPr>
              <a:t>The main objectives of developing FlowAlign are:</a:t>
            </a:r>
          </a:p>
          <a:p>
            <a:pPr marL="604516" lvl="1" indent="-302258" algn="l">
              <a:lnSpc>
                <a:spcPts val="3919"/>
              </a:lnSpc>
              <a:buFont typeface="Arial"/>
              <a:buChar char="•"/>
            </a:pPr>
            <a:r>
              <a:rPr lang="en-US" sz="2799">
                <a:solidFill>
                  <a:srgbClr val="000000"/>
                </a:solidFill>
                <a:latin typeface="Times New Roman"/>
                <a:ea typeface="Times New Roman"/>
                <a:cs typeface="Times New Roman"/>
                <a:sym typeface="Times New Roman"/>
              </a:rPr>
              <a:t>To design a smart productivity companion system that adapts to user energy levels.</a:t>
            </a:r>
          </a:p>
          <a:p>
            <a:pPr marL="604516" lvl="1" indent="-302258" algn="l">
              <a:lnSpc>
                <a:spcPts val="3919"/>
              </a:lnSpc>
              <a:buFont typeface="Arial"/>
              <a:buChar char="•"/>
            </a:pPr>
            <a:r>
              <a:rPr lang="en-US" sz="2799">
                <a:solidFill>
                  <a:srgbClr val="000000"/>
                </a:solidFill>
                <a:latin typeface="Times New Roman"/>
                <a:ea typeface="Times New Roman"/>
                <a:cs typeface="Times New Roman"/>
                <a:sym typeface="Times New Roman"/>
              </a:rPr>
              <a:t>To help users manage tasks more efficiently by matching tasks with their productivity levels.</a:t>
            </a:r>
          </a:p>
          <a:p>
            <a:pPr marL="604516" lvl="1" indent="-302258" algn="l">
              <a:lnSpc>
                <a:spcPts val="3919"/>
              </a:lnSpc>
              <a:buFont typeface="Arial"/>
              <a:buChar char="•"/>
            </a:pPr>
            <a:r>
              <a:rPr lang="en-US" sz="2799">
                <a:solidFill>
                  <a:srgbClr val="000000"/>
                </a:solidFill>
                <a:latin typeface="Times New Roman"/>
                <a:ea typeface="Times New Roman"/>
                <a:cs typeface="Times New Roman"/>
                <a:sym typeface="Times New Roman"/>
              </a:rPr>
              <a:t>To improve focus and time management in daily activities.</a:t>
            </a:r>
          </a:p>
          <a:p>
            <a:pPr marL="604516" lvl="1" indent="-302258" algn="l">
              <a:lnSpc>
                <a:spcPts val="3919"/>
              </a:lnSpc>
              <a:buFont typeface="Arial"/>
              <a:buChar char="•"/>
            </a:pPr>
            <a:r>
              <a:rPr lang="en-US" sz="2799">
                <a:solidFill>
                  <a:srgbClr val="000000"/>
                </a:solidFill>
                <a:latin typeface="Times New Roman"/>
                <a:ea typeface="Times New Roman"/>
                <a:cs typeface="Times New Roman"/>
                <a:sym typeface="Times New Roman"/>
              </a:rPr>
              <a:t>To reduce mental fatigue by ensuring difficult tasks are performed during high energy periods.</a:t>
            </a:r>
          </a:p>
          <a:p>
            <a:pPr marL="604516" lvl="1" indent="-302258" algn="l">
              <a:lnSpc>
                <a:spcPts val="3919"/>
              </a:lnSpc>
              <a:buFont typeface="Arial"/>
              <a:buChar char="•"/>
            </a:pPr>
            <a:r>
              <a:rPr lang="en-US" sz="2799">
                <a:solidFill>
                  <a:srgbClr val="000000"/>
                </a:solidFill>
                <a:latin typeface="Times New Roman"/>
                <a:ea typeface="Times New Roman"/>
                <a:cs typeface="Times New Roman"/>
                <a:sym typeface="Times New Roman"/>
              </a:rPr>
              <a:t>To create an intuitive system that helps users maintain better work balance and productivity habits.</a:t>
            </a:r>
          </a:p>
          <a:p>
            <a:pPr marL="604516" lvl="1" indent="-302258" algn="l">
              <a:lnSpc>
                <a:spcPts val="3919"/>
              </a:lnSpc>
              <a:buFont typeface="Arial"/>
              <a:buChar char="•"/>
            </a:pPr>
            <a:r>
              <a:rPr lang="en-US" sz="2799">
                <a:solidFill>
                  <a:srgbClr val="000000"/>
                </a:solidFill>
                <a:latin typeface="Times New Roman"/>
                <a:ea typeface="Times New Roman"/>
                <a:cs typeface="Times New Roman"/>
                <a:sym typeface="Times New Roman"/>
              </a:rPr>
              <a:t>To implement Frontend Web Development technologies such as HTML, CSS, and JavaScript.</a:t>
            </a:r>
          </a:p>
          <a:p>
            <a:pPr marL="604516" lvl="1" indent="-302258" algn="l">
              <a:lnSpc>
                <a:spcPts val="3919"/>
              </a:lnSpc>
              <a:buFont typeface="Arial"/>
              <a:buChar char="•"/>
            </a:pPr>
            <a:r>
              <a:rPr lang="en-US" sz="2799">
                <a:solidFill>
                  <a:srgbClr val="000000"/>
                </a:solidFill>
                <a:latin typeface="Times New Roman"/>
                <a:ea typeface="Times New Roman"/>
                <a:cs typeface="Times New Roman"/>
                <a:sym typeface="Times New Roman"/>
              </a:rPr>
              <a:t>To apply Data Structures concepts to manage and organize tasks efficiently.</a:t>
            </a:r>
          </a:p>
          <a:p>
            <a:pPr marL="604516" lvl="1" indent="-302258" algn="l">
              <a:lnSpc>
                <a:spcPts val="3919"/>
              </a:lnSpc>
              <a:buFont typeface="Arial"/>
              <a:buChar char="•"/>
            </a:pPr>
            <a:r>
              <a:rPr lang="en-US" sz="2799">
                <a:solidFill>
                  <a:srgbClr val="000000"/>
                </a:solidFill>
                <a:latin typeface="Times New Roman"/>
                <a:ea typeface="Times New Roman"/>
                <a:cs typeface="Times New Roman"/>
                <a:sym typeface="Times New Roman"/>
              </a:rPr>
              <a:t>To demonstrate how technology can support smart personal productivity management.</a:t>
            </a:r>
          </a:p>
          <a:p>
            <a:pPr algn="l">
              <a:lnSpc>
                <a:spcPts val="3919"/>
              </a:lnSpc>
            </a:pPr>
            <a:endParaRPr lang="en-US" sz="2799">
              <a:solidFill>
                <a:srgbClr val="000000"/>
              </a:solidFill>
              <a:latin typeface="Times New Roman"/>
              <a:ea typeface="Times New Roman"/>
              <a:cs typeface="Times New Roman"/>
              <a:sym typeface="Times New Roman"/>
            </a:endParaRPr>
          </a:p>
        </p:txBody>
      </p:sp>
      <p:sp>
        <p:nvSpPr>
          <p:cNvPr id="7" name="Freeform 7"/>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236" y="17328"/>
            <a:ext cx="18283981" cy="10282120"/>
            <a:chOff x="0" y="0"/>
            <a:chExt cx="6093521" cy="3929236"/>
          </a:xfrm>
        </p:grpSpPr>
        <p:sp>
          <p:nvSpPr>
            <p:cNvPr id="3" name="Freeform 3"/>
            <p:cNvSpPr/>
            <p:nvPr/>
          </p:nvSpPr>
          <p:spPr>
            <a:xfrm>
              <a:off x="0" y="0"/>
              <a:ext cx="6093521" cy="3929236"/>
            </a:xfrm>
            <a:custGeom>
              <a:avLst/>
              <a:gdLst/>
              <a:ahLst/>
              <a:cxnLst/>
              <a:rect l="l" t="t" r="r" b="b"/>
              <a:pathLst>
                <a:path w="6093521" h="3929236">
                  <a:moveTo>
                    <a:pt x="0" y="0"/>
                  </a:moveTo>
                  <a:lnTo>
                    <a:pt x="6093521" y="0"/>
                  </a:lnTo>
                  <a:lnTo>
                    <a:pt x="6093521" y="3929236"/>
                  </a:lnTo>
                  <a:lnTo>
                    <a:pt x="0" y="3929236"/>
                  </a:lnTo>
                  <a:close/>
                </a:path>
              </a:pathLst>
            </a:custGeom>
            <a:solidFill>
              <a:srgbClr val="FFF6E3"/>
            </a:solidFill>
          </p:spPr>
        </p:sp>
        <p:sp>
          <p:nvSpPr>
            <p:cNvPr id="4" name="TextBox 4"/>
            <p:cNvSpPr txBox="1"/>
            <p:nvPr/>
          </p:nvSpPr>
          <p:spPr>
            <a:xfrm>
              <a:off x="0" y="-57150"/>
              <a:ext cx="6093521" cy="398638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54377" y="1730351"/>
            <a:ext cx="8250286" cy="7971103"/>
            <a:chOff x="0" y="0"/>
            <a:chExt cx="2172915" cy="2099385"/>
          </a:xfrm>
        </p:grpSpPr>
        <p:sp>
          <p:nvSpPr>
            <p:cNvPr id="6" name="Freeform 6"/>
            <p:cNvSpPr/>
            <p:nvPr/>
          </p:nvSpPr>
          <p:spPr>
            <a:xfrm>
              <a:off x="0" y="0"/>
              <a:ext cx="2172915" cy="2099385"/>
            </a:xfrm>
            <a:custGeom>
              <a:avLst/>
              <a:gdLst/>
              <a:ahLst/>
              <a:cxnLst/>
              <a:rect l="l" t="t" r="r" b="b"/>
              <a:pathLst>
                <a:path w="2172915" h="2099385">
                  <a:moveTo>
                    <a:pt x="0" y="0"/>
                  </a:moveTo>
                  <a:lnTo>
                    <a:pt x="2172915" y="0"/>
                  </a:lnTo>
                  <a:lnTo>
                    <a:pt x="2172915" y="2099385"/>
                  </a:lnTo>
                  <a:lnTo>
                    <a:pt x="0" y="2099385"/>
                  </a:lnTo>
                  <a:close/>
                </a:path>
              </a:pathLst>
            </a:custGeom>
            <a:solidFill>
              <a:srgbClr val="FFFFFF"/>
            </a:solidFill>
          </p:spPr>
        </p:sp>
        <p:sp>
          <p:nvSpPr>
            <p:cNvPr id="7" name="TextBox 7"/>
            <p:cNvSpPr txBox="1"/>
            <p:nvPr/>
          </p:nvSpPr>
          <p:spPr>
            <a:xfrm>
              <a:off x="0" y="-57150"/>
              <a:ext cx="2172915" cy="215653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926565" y="1730351"/>
            <a:ext cx="7789112" cy="7971103"/>
            <a:chOff x="0" y="0"/>
            <a:chExt cx="2051453" cy="2099385"/>
          </a:xfrm>
        </p:grpSpPr>
        <p:sp>
          <p:nvSpPr>
            <p:cNvPr id="9" name="Freeform 9"/>
            <p:cNvSpPr/>
            <p:nvPr/>
          </p:nvSpPr>
          <p:spPr>
            <a:xfrm>
              <a:off x="0" y="0"/>
              <a:ext cx="2051453" cy="2099385"/>
            </a:xfrm>
            <a:custGeom>
              <a:avLst/>
              <a:gdLst/>
              <a:ahLst/>
              <a:cxnLst/>
              <a:rect l="l" t="t" r="r" b="b"/>
              <a:pathLst>
                <a:path w="2051453" h="2099385">
                  <a:moveTo>
                    <a:pt x="0" y="0"/>
                  </a:moveTo>
                  <a:lnTo>
                    <a:pt x="2051453" y="0"/>
                  </a:lnTo>
                  <a:lnTo>
                    <a:pt x="2051453" y="2099385"/>
                  </a:lnTo>
                  <a:lnTo>
                    <a:pt x="0" y="2099385"/>
                  </a:lnTo>
                  <a:close/>
                </a:path>
              </a:pathLst>
            </a:custGeom>
            <a:solidFill>
              <a:srgbClr val="FFFFFF"/>
            </a:solidFill>
          </p:spPr>
        </p:sp>
        <p:sp>
          <p:nvSpPr>
            <p:cNvPr id="10" name="TextBox 10"/>
            <p:cNvSpPr txBox="1"/>
            <p:nvPr/>
          </p:nvSpPr>
          <p:spPr>
            <a:xfrm>
              <a:off x="0" y="-57150"/>
              <a:ext cx="2051453" cy="215653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927101" y="4174490"/>
            <a:ext cx="7504838" cy="5182845"/>
          </a:xfrm>
          <a:custGeom>
            <a:avLst/>
            <a:gdLst/>
            <a:ahLst/>
            <a:cxnLst/>
            <a:rect l="l" t="t" r="r" b="b"/>
            <a:pathLst>
              <a:path w="7504838" h="5182845">
                <a:moveTo>
                  <a:pt x="0" y="0"/>
                </a:moveTo>
                <a:lnTo>
                  <a:pt x="7504838" y="0"/>
                </a:lnTo>
                <a:lnTo>
                  <a:pt x="7504838" y="5182845"/>
                </a:lnTo>
                <a:lnTo>
                  <a:pt x="0" y="5182845"/>
                </a:lnTo>
                <a:lnTo>
                  <a:pt x="0" y="0"/>
                </a:lnTo>
                <a:close/>
              </a:path>
            </a:pathLst>
          </a:custGeom>
          <a:blipFill>
            <a:blip r:embed="rId2"/>
            <a:stretch>
              <a:fillRect/>
            </a:stretch>
          </a:blipFill>
        </p:spPr>
      </p:sp>
      <p:sp>
        <p:nvSpPr>
          <p:cNvPr id="12" name="Freeform 12"/>
          <p:cNvSpPr/>
          <p:nvPr/>
        </p:nvSpPr>
        <p:spPr>
          <a:xfrm>
            <a:off x="10115121" y="4174490"/>
            <a:ext cx="7416791" cy="5083810"/>
          </a:xfrm>
          <a:custGeom>
            <a:avLst/>
            <a:gdLst/>
            <a:ahLst/>
            <a:cxnLst/>
            <a:rect l="l" t="t" r="r" b="b"/>
            <a:pathLst>
              <a:path w="7416791" h="5083810">
                <a:moveTo>
                  <a:pt x="0" y="0"/>
                </a:moveTo>
                <a:lnTo>
                  <a:pt x="7416791" y="0"/>
                </a:lnTo>
                <a:lnTo>
                  <a:pt x="7416791" y="5083810"/>
                </a:lnTo>
                <a:lnTo>
                  <a:pt x="0" y="5083810"/>
                </a:lnTo>
                <a:lnTo>
                  <a:pt x="0" y="0"/>
                </a:lnTo>
                <a:close/>
              </a:path>
            </a:pathLst>
          </a:custGeom>
          <a:blipFill>
            <a:blip r:embed="rId3"/>
            <a:stretch>
              <a:fillRect/>
            </a:stretch>
          </a:blipFill>
        </p:spPr>
      </p:sp>
      <p:sp>
        <p:nvSpPr>
          <p:cNvPr id="13" name="TextBox 13"/>
          <p:cNvSpPr txBox="1"/>
          <p:nvPr/>
        </p:nvSpPr>
        <p:spPr>
          <a:xfrm>
            <a:off x="3893154" y="487779"/>
            <a:ext cx="10607263" cy="775847"/>
          </a:xfrm>
          <a:prstGeom prst="rect">
            <a:avLst/>
          </a:prstGeom>
        </p:spPr>
        <p:txBody>
          <a:bodyPr lIns="0" tIns="0" rIns="0" bIns="0" rtlCol="0" anchor="t">
            <a:spAutoFit/>
          </a:bodyPr>
          <a:lstStyle/>
          <a:p>
            <a:pPr algn="ctr">
              <a:lnSpc>
                <a:spcPts val="5936"/>
              </a:lnSpc>
            </a:pPr>
            <a:r>
              <a:rPr lang="en-US" sz="5600">
                <a:solidFill>
                  <a:srgbClr val="000000"/>
                </a:solidFill>
                <a:latin typeface="Hammersmith One"/>
                <a:ea typeface="Hammersmith One"/>
                <a:cs typeface="Hammersmith One"/>
                <a:sym typeface="Hammersmith One"/>
              </a:rPr>
              <a:t>CO’S ATTAINMENTS(FWD)</a:t>
            </a:r>
          </a:p>
        </p:txBody>
      </p:sp>
      <p:sp>
        <p:nvSpPr>
          <p:cNvPr id="14" name="TextBox 14"/>
          <p:cNvSpPr txBox="1"/>
          <p:nvPr/>
        </p:nvSpPr>
        <p:spPr>
          <a:xfrm>
            <a:off x="2559610" y="1875856"/>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CO1 – HTML Structure</a:t>
            </a:r>
          </a:p>
        </p:txBody>
      </p:sp>
      <p:sp>
        <p:nvSpPr>
          <p:cNvPr id="15" name="TextBox 15"/>
          <p:cNvSpPr txBox="1"/>
          <p:nvPr/>
        </p:nvSpPr>
        <p:spPr>
          <a:xfrm>
            <a:off x="1028700" y="2753044"/>
            <a:ext cx="5728907" cy="1208405"/>
          </a:xfrm>
          <a:prstGeom prst="rect">
            <a:avLst/>
          </a:prstGeom>
        </p:spPr>
        <p:txBody>
          <a:bodyPr lIns="0" tIns="0" rIns="0" bIns="0" rtlCol="0" anchor="t">
            <a:spAutoFit/>
          </a:bodyPr>
          <a:lstStyle/>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Implemented semantic HTML structure</a:t>
            </a:r>
          </a:p>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Used proper document layout</a:t>
            </a:r>
          </a:p>
          <a:p>
            <a:pPr algn="l">
              <a:lnSpc>
                <a:spcPts val="3219"/>
              </a:lnSpc>
              <a:spcBef>
                <a:spcPct val="0"/>
              </a:spcBef>
            </a:pPr>
            <a:r>
              <a:rPr lang="en-US" sz="2299">
                <a:solidFill>
                  <a:srgbClr val="000000"/>
                </a:solidFill>
                <a:latin typeface="Times New Roman"/>
                <a:ea typeface="Times New Roman"/>
                <a:cs typeface="Times New Roman"/>
                <a:sym typeface="Times New Roman"/>
              </a:rPr>
              <a:t> </a:t>
            </a:r>
          </a:p>
        </p:txBody>
      </p:sp>
      <p:sp>
        <p:nvSpPr>
          <p:cNvPr id="16" name="TextBox 16"/>
          <p:cNvSpPr txBox="1"/>
          <p:nvPr/>
        </p:nvSpPr>
        <p:spPr>
          <a:xfrm>
            <a:off x="11701210" y="1875856"/>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CO2 – CSS Styling</a:t>
            </a:r>
          </a:p>
        </p:txBody>
      </p:sp>
      <p:sp>
        <p:nvSpPr>
          <p:cNvPr id="17" name="TextBox 17"/>
          <p:cNvSpPr txBox="1"/>
          <p:nvPr/>
        </p:nvSpPr>
        <p:spPr>
          <a:xfrm>
            <a:off x="10861710" y="2753044"/>
            <a:ext cx="5728907" cy="1208405"/>
          </a:xfrm>
          <a:prstGeom prst="rect">
            <a:avLst/>
          </a:prstGeom>
        </p:spPr>
        <p:txBody>
          <a:bodyPr lIns="0" tIns="0" rIns="0" bIns="0" rtlCol="0" anchor="t">
            <a:spAutoFit/>
          </a:bodyPr>
          <a:lstStyle/>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Used CSS variables and responsive layouts</a:t>
            </a:r>
          </a:p>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Implemented animations and theme styling</a:t>
            </a:r>
          </a:p>
          <a:p>
            <a:pPr algn="l">
              <a:lnSpc>
                <a:spcPts val="3219"/>
              </a:lnSpc>
              <a:spcBef>
                <a:spcPct val="0"/>
              </a:spcBef>
            </a:pPr>
            <a:endParaRPr lang="en-US" sz="2299">
              <a:solidFill>
                <a:srgbClr val="000000"/>
              </a:solidFill>
              <a:latin typeface="Times New Roman"/>
              <a:ea typeface="Times New Roman"/>
              <a:cs typeface="Times New Roman"/>
              <a:sym typeface="Times New Roman"/>
            </a:endParaRPr>
          </a:p>
        </p:txBody>
      </p:sp>
      <p:sp>
        <p:nvSpPr>
          <p:cNvPr id="18" name="Freeform 18"/>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4"/>
            <a:stretch>
              <a:fillRect b="-7106"/>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03934" y="38925"/>
            <a:ext cx="17782471" cy="10186400"/>
            <a:chOff x="0" y="0"/>
            <a:chExt cx="5972796" cy="3523469"/>
          </a:xfrm>
        </p:grpSpPr>
        <p:sp>
          <p:nvSpPr>
            <p:cNvPr id="3" name="Freeform 3"/>
            <p:cNvSpPr/>
            <p:nvPr/>
          </p:nvSpPr>
          <p:spPr>
            <a:xfrm>
              <a:off x="0" y="0"/>
              <a:ext cx="5972796" cy="3523469"/>
            </a:xfrm>
            <a:custGeom>
              <a:avLst/>
              <a:gdLst/>
              <a:ahLst/>
              <a:cxnLst/>
              <a:rect l="l" t="t" r="r" b="b"/>
              <a:pathLst>
                <a:path w="5972796" h="3523469">
                  <a:moveTo>
                    <a:pt x="0" y="0"/>
                  </a:moveTo>
                  <a:lnTo>
                    <a:pt x="5972796" y="0"/>
                  </a:lnTo>
                  <a:lnTo>
                    <a:pt x="5972796" y="3523469"/>
                  </a:lnTo>
                  <a:lnTo>
                    <a:pt x="0" y="3523469"/>
                  </a:lnTo>
                  <a:close/>
                </a:path>
              </a:pathLst>
            </a:custGeom>
            <a:solidFill>
              <a:srgbClr val="FFF6E3"/>
            </a:solidFill>
          </p:spPr>
        </p:sp>
        <p:sp>
          <p:nvSpPr>
            <p:cNvPr id="4" name="TextBox 4"/>
            <p:cNvSpPr txBox="1"/>
            <p:nvPr/>
          </p:nvSpPr>
          <p:spPr>
            <a:xfrm>
              <a:off x="0" y="-57150"/>
              <a:ext cx="5972796" cy="3580619"/>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5400000">
            <a:off x="-4873493" y="4979432"/>
            <a:ext cx="10292658" cy="420059"/>
            <a:chOff x="0" y="0"/>
            <a:chExt cx="2710823" cy="337830"/>
          </a:xfrm>
        </p:grpSpPr>
        <p:sp>
          <p:nvSpPr>
            <p:cNvPr id="6" name="Freeform 6"/>
            <p:cNvSpPr/>
            <p:nvPr/>
          </p:nvSpPr>
          <p:spPr>
            <a:xfrm>
              <a:off x="0" y="0"/>
              <a:ext cx="2710823" cy="337830"/>
            </a:xfrm>
            <a:custGeom>
              <a:avLst/>
              <a:gdLst/>
              <a:ahLst/>
              <a:cxnLst/>
              <a:rect l="l" t="t" r="r" b="b"/>
              <a:pathLst>
                <a:path w="2710823" h="337830">
                  <a:moveTo>
                    <a:pt x="0" y="0"/>
                  </a:moveTo>
                  <a:lnTo>
                    <a:pt x="2710823" y="0"/>
                  </a:lnTo>
                  <a:lnTo>
                    <a:pt x="2710823" y="337830"/>
                  </a:lnTo>
                  <a:lnTo>
                    <a:pt x="0" y="337830"/>
                  </a:lnTo>
                  <a:close/>
                </a:path>
              </a:pathLst>
            </a:custGeom>
            <a:solidFill>
              <a:srgbClr val="FFF6E3">
                <a:alpha val="74902"/>
              </a:srgbClr>
            </a:solidFill>
          </p:spPr>
        </p:sp>
        <p:sp>
          <p:nvSpPr>
            <p:cNvPr id="7" name="TextBox 7"/>
            <p:cNvSpPr txBox="1"/>
            <p:nvPr/>
          </p:nvSpPr>
          <p:spPr>
            <a:xfrm>
              <a:off x="0" y="-28575"/>
              <a:ext cx="2710823" cy="36640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06079" y="870438"/>
            <a:ext cx="7290648" cy="9141679"/>
            <a:chOff x="0" y="0"/>
            <a:chExt cx="1920171" cy="2407685"/>
          </a:xfrm>
        </p:grpSpPr>
        <p:sp>
          <p:nvSpPr>
            <p:cNvPr id="9" name="Freeform 9"/>
            <p:cNvSpPr/>
            <p:nvPr/>
          </p:nvSpPr>
          <p:spPr>
            <a:xfrm>
              <a:off x="0" y="0"/>
              <a:ext cx="1920171" cy="2407685"/>
            </a:xfrm>
            <a:custGeom>
              <a:avLst/>
              <a:gdLst/>
              <a:ahLst/>
              <a:cxnLst/>
              <a:rect l="l" t="t" r="r" b="b"/>
              <a:pathLst>
                <a:path w="1920171" h="2407685">
                  <a:moveTo>
                    <a:pt x="0" y="0"/>
                  </a:moveTo>
                  <a:lnTo>
                    <a:pt x="1920171" y="0"/>
                  </a:lnTo>
                  <a:lnTo>
                    <a:pt x="1920171" y="2407685"/>
                  </a:lnTo>
                  <a:lnTo>
                    <a:pt x="0" y="2407685"/>
                  </a:lnTo>
                  <a:close/>
                </a:path>
              </a:pathLst>
            </a:custGeom>
            <a:solidFill>
              <a:srgbClr val="FFFFFF"/>
            </a:solidFill>
          </p:spPr>
        </p:sp>
        <p:sp>
          <p:nvSpPr>
            <p:cNvPr id="10" name="TextBox 10"/>
            <p:cNvSpPr txBox="1"/>
            <p:nvPr/>
          </p:nvSpPr>
          <p:spPr>
            <a:xfrm>
              <a:off x="0" y="-57150"/>
              <a:ext cx="1920171" cy="246483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643844" y="4545922"/>
            <a:ext cx="6815117" cy="5060555"/>
          </a:xfrm>
          <a:custGeom>
            <a:avLst/>
            <a:gdLst/>
            <a:ahLst/>
            <a:cxnLst/>
            <a:rect l="l" t="t" r="r" b="b"/>
            <a:pathLst>
              <a:path w="6815117" h="5060555">
                <a:moveTo>
                  <a:pt x="0" y="0"/>
                </a:moveTo>
                <a:lnTo>
                  <a:pt x="6815117" y="0"/>
                </a:lnTo>
                <a:lnTo>
                  <a:pt x="6815117" y="5060555"/>
                </a:lnTo>
                <a:lnTo>
                  <a:pt x="0" y="5060555"/>
                </a:lnTo>
                <a:lnTo>
                  <a:pt x="0" y="0"/>
                </a:lnTo>
                <a:close/>
              </a:path>
            </a:pathLst>
          </a:custGeom>
          <a:blipFill>
            <a:blip r:embed="rId2"/>
            <a:stretch>
              <a:fillRect l="-663" r="-663"/>
            </a:stretch>
          </a:blipFill>
        </p:spPr>
      </p:sp>
      <p:grpSp>
        <p:nvGrpSpPr>
          <p:cNvPr id="12" name="Group 12"/>
          <p:cNvGrpSpPr/>
          <p:nvPr/>
        </p:nvGrpSpPr>
        <p:grpSpPr>
          <a:xfrm>
            <a:off x="9298123" y="870438"/>
            <a:ext cx="8174642" cy="4570839"/>
            <a:chOff x="0" y="0"/>
            <a:chExt cx="2152992" cy="1203842"/>
          </a:xfrm>
        </p:grpSpPr>
        <p:sp>
          <p:nvSpPr>
            <p:cNvPr id="13" name="Freeform 13"/>
            <p:cNvSpPr/>
            <p:nvPr/>
          </p:nvSpPr>
          <p:spPr>
            <a:xfrm>
              <a:off x="0" y="0"/>
              <a:ext cx="2152992" cy="1203842"/>
            </a:xfrm>
            <a:custGeom>
              <a:avLst/>
              <a:gdLst/>
              <a:ahLst/>
              <a:cxnLst/>
              <a:rect l="l" t="t" r="r" b="b"/>
              <a:pathLst>
                <a:path w="2152992" h="1203842">
                  <a:moveTo>
                    <a:pt x="0" y="0"/>
                  </a:moveTo>
                  <a:lnTo>
                    <a:pt x="2152992" y="0"/>
                  </a:lnTo>
                  <a:lnTo>
                    <a:pt x="2152992" y="1203842"/>
                  </a:lnTo>
                  <a:lnTo>
                    <a:pt x="0" y="1203842"/>
                  </a:lnTo>
                  <a:close/>
                </a:path>
              </a:pathLst>
            </a:custGeom>
            <a:solidFill>
              <a:srgbClr val="FFFFFF"/>
            </a:solidFill>
          </p:spPr>
        </p:sp>
        <p:sp>
          <p:nvSpPr>
            <p:cNvPr id="14" name="TextBox 14"/>
            <p:cNvSpPr txBox="1"/>
            <p:nvPr/>
          </p:nvSpPr>
          <p:spPr>
            <a:xfrm>
              <a:off x="0" y="-57150"/>
              <a:ext cx="2152992" cy="1260992"/>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9298123" y="5710323"/>
            <a:ext cx="8174642" cy="4380925"/>
            <a:chOff x="0" y="0"/>
            <a:chExt cx="2152992" cy="1153824"/>
          </a:xfrm>
        </p:grpSpPr>
        <p:sp>
          <p:nvSpPr>
            <p:cNvPr id="16" name="Freeform 16"/>
            <p:cNvSpPr/>
            <p:nvPr/>
          </p:nvSpPr>
          <p:spPr>
            <a:xfrm>
              <a:off x="0" y="0"/>
              <a:ext cx="2152992" cy="1153824"/>
            </a:xfrm>
            <a:custGeom>
              <a:avLst/>
              <a:gdLst/>
              <a:ahLst/>
              <a:cxnLst/>
              <a:rect l="l" t="t" r="r" b="b"/>
              <a:pathLst>
                <a:path w="2152992" h="1153824">
                  <a:moveTo>
                    <a:pt x="0" y="0"/>
                  </a:moveTo>
                  <a:lnTo>
                    <a:pt x="2152992" y="0"/>
                  </a:lnTo>
                  <a:lnTo>
                    <a:pt x="2152992" y="1153824"/>
                  </a:lnTo>
                  <a:lnTo>
                    <a:pt x="0" y="1153824"/>
                  </a:lnTo>
                  <a:close/>
                </a:path>
              </a:pathLst>
            </a:custGeom>
            <a:solidFill>
              <a:srgbClr val="FFFFFF"/>
            </a:solidFill>
          </p:spPr>
        </p:sp>
        <p:sp>
          <p:nvSpPr>
            <p:cNvPr id="17" name="TextBox 17"/>
            <p:cNvSpPr txBox="1"/>
            <p:nvPr/>
          </p:nvSpPr>
          <p:spPr>
            <a:xfrm>
              <a:off x="0" y="-57150"/>
              <a:ext cx="2152992" cy="1210974"/>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10476826" y="2448453"/>
            <a:ext cx="6251333" cy="2506989"/>
          </a:xfrm>
          <a:custGeom>
            <a:avLst/>
            <a:gdLst/>
            <a:ahLst/>
            <a:cxnLst/>
            <a:rect l="l" t="t" r="r" b="b"/>
            <a:pathLst>
              <a:path w="6251333" h="2506989">
                <a:moveTo>
                  <a:pt x="0" y="0"/>
                </a:moveTo>
                <a:lnTo>
                  <a:pt x="6251333" y="0"/>
                </a:lnTo>
                <a:lnTo>
                  <a:pt x="6251333" y="2506990"/>
                </a:lnTo>
                <a:lnTo>
                  <a:pt x="0" y="2506990"/>
                </a:lnTo>
                <a:lnTo>
                  <a:pt x="0" y="0"/>
                </a:lnTo>
                <a:close/>
              </a:path>
            </a:pathLst>
          </a:custGeom>
          <a:blipFill>
            <a:blip r:embed="rId3"/>
            <a:stretch>
              <a:fillRect/>
            </a:stretch>
          </a:blipFill>
        </p:spPr>
      </p:sp>
      <p:sp>
        <p:nvSpPr>
          <p:cNvPr id="19" name="Freeform 19"/>
          <p:cNvSpPr/>
          <p:nvPr/>
        </p:nvSpPr>
        <p:spPr>
          <a:xfrm>
            <a:off x="10009605" y="4955443"/>
            <a:ext cx="7185776" cy="376115"/>
          </a:xfrm>
          <a:custGeom>
            <a:avLst/>
            <a:gdLst/>
            <a:ahLst/>
            <a:cxnLst/>
            <a:rect l="l" t="t" r="r" b="b"/>
            <a:pathLst>
              <a:path w="7185776" h="376115">
                <a:moveTo>
                  <a:pt x="0" y="0"/>
                </a:moveTo>
                <a:lnTo>
                  <a:pt x="7185775" y="0"/>
                </a:lnTo>
                <a:lnTo>
                  <a:pt x="7185775" y="376114"/>
                </a:lnTo>
                <a:lnTo>
                  <a:pt x="0" y="376114"/>
                </a:lnTo>
                <a:lnTo>
                  <a:pt x="0" y="0"/>
                </a:lnTo>
                <a:close/>
              </a:path>
            </a:pathLst>
          </a:custGeom>
          <a:blipFill>
            <a:blip r:embed="rId4"/>
            <a:stretch>
              <a:fillRect/>
            </a:stretch>
          </a:blipFill>
        </p:spPr>
      </p:sp>
      <p:sp>
        <p:nvSpPr>
          <p:cNvPr id="20" name="Freeform 20"/>
          <p:cNvSpPr/>
          <p:nvPr/>
        </p:nvSpPr>
        <p:spPr>
          <a:xfrm>
            <a:off x="10623632" y="7137350"/>
            <a:ext cx="5911950" cy="2874767"/>
          </a:xfrm>
          <a:custGeom>
            <a:avLst/>
            <a:gdLst/>
            <a:ahLst/>
            <a:cxnLst/>
            <a:rect l="l" t="t" r="r" b="b"/>
            <a:pathLst>
              <a:path w="5911950" h="2874767">
                <a:moveTo>
                  <a:pt x="0" y="0"/>
                </a:moveTo>
                <a:lnTo>
                  <a:pt x="5911950" y="0"/>
                </a:lnTo>
                <a:lnTo>
                  <a:pt x="5911950" y="2874766"/>
                </a:lnTo>
                <a:lnTo>
                  <a:pt x="0" y="2874766"/>
                </a:lnTo>
                <a:lnTo>
                  <a:pt x="0" y="0"/>
                </a:lnTo>
                <a:close/>
              </a:path>
            </a:pathLst>
          </a:custGeom>
          <a:blipFill>
            <a:blip r:embed="rId5"/>
            <a:stretch>
              <a:fillRect/>
            </a:stretch>
          </a:blipFill>
        </p:spPr>
      </p:sp>
      <p:sp>
        <p:nvSpPr>
          <p:cNvPr id="21" name="TextBox 21"/>
          <p:cNvSpPr txBox="1"/>
          <p:nvPr/>
        </p:nvSpPr>
        <p:spPr>
          <a:xfrm>
            <a:off x="1239829" y="1236944"/>
            <a:ext cx="5623147"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CO3 – JavaScript Programming Logic</a:t>
            </a:r>
          </a:p>
        </p:txBody>
      </p:sp>
      <p:sp>
        <p:nvSpPr>
          <p:cNvPr id="22" name="TextBox 22"/>
          <p:cNvSpPr txBox="1"/>
          <p:nvPr/>
        </p:nvSpPr>
        <p:spPr>
          <a:xfrm>
            <a:off x="1028700" y="2137367"/>
            <a:ext cx="5728907" cy="2408555"/>
          </a:xfrm>
          <a:prstGeom prst="rect">
            <a:avLst/>
          </a:prstGeom>
        </p:spPr>
        <p:txBody>
          <a:bodyPr lIns="0" tIns="0" rIns="0" bIns="0" rtlCol="0" anchor="t">
            <a:spAutoFit/>
          </a:bodyPr>
          <a:lstStyle/>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Implemented JavaScript functions for task management.</a:t>
            </a:r>
          </a:p>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Used arrays and objects to store tasks.</a:t>
            </a:r>
          </a:p>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Applied logical operations and functions for application behavior.</a:t>
            </a:r>
          </a:p>
          <a:p>
            <a:pPr algn="l">
              <a:lnSpc>
                <a:spcPts val="3219"/>
              </a:lnSpc>
              <a:spcBef>
                <a:spcPct val="0"/>
              </a:spcBef>
            </a:pPr>
            <a:endParaRPr lang="en-US" sz="2299">
              <a:solidFill>
                <a:srgbClr val="000000"/>
              </a:solidFill>
              <a:latin typeface="Times New Roman"/>
              <a:ea typeface="Times New Roman"/>
              <a:cs typeface="Times New Roman"/>
              <a:sym typeface="Times New Roman"/>
            </a:endParaRPr>
          </a:p>
        </p:txBody>
      </p:sp>
      <p:sp>
        <p:nvSpPr>
          <p:cNvPr id="23" name="TextBox 23"/>
          <p:cNvSpPr txBox="1"/>
          <p:nvPr/>
        </p:nvSpPr>
        <p:spPr>
          <a:xfrm>
            <a:off x="10042730" y="962025"/>
            <a:ext cx="6685429"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CO4 – DOM Manipulation and Event Handling</a:t>
            </a:r>
          </a:p>
        </p:txBody>
      </p:sp>
      <p:sp>
        <p:nvSpPr>
          <p:cNvPr id="24" name="TextBox 24"/>
          <p:cNvSpPr txBox="1"/>
          <p:nvPr/>
        </p:nvSpPr>
        <p:spPr>
          <a:xfrm>
            <a:off x="9686449" y="1440780"/>
            <a:ext cx="7786317" cy="1208405"/>
          </a:xfrm>
          <a:prstGeom prst="rect">
            <a:avLst/>
          </a:prstGeom>
        </p:spPr>
        <p:txBody>
          <a:bodyPr lIns="0" tIns="0" rIns="0" bIns="0" rtlCol="0" anchor="t">
            <a:spAutoFit/>
          </a:bodyPr>
          <a:lstStyle/>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Implemented DOM manipulation for dynamic UI updates.</a:t>
            </a:r>
          </a:p>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Used event listeners to handle user interactions.</a:t>
            </a:r>
          </a:p>
          <a:p>
            <a:pPr algn="l">
              <a:lnSpc>
                <a:spcPts val="3219"/>
              </a:lnSpc>
              <a:spcBef>
                <a:spcPct val="0"/>
              </a:spcBef>
            </a:pPr>
            <a:endParaRPr lang="en-US" sz="2299">
              <a:solidFill>
                <a:srgbClr val="000000"/>
              </a:solidFill>
              <a:latin typeface="Times New Roman"/>
              <a:ea typeface="Times New Roman"/>
              <a:cs typeface="Times New Roman"/>
              <a:sym typeface="Times New Roman"/>
            </a:endParaRPr>
          </a:p>
        </p:txBody>
      </p:sp>
      <p:sp>
        <p:nvSpPr>
          <p:cNvPr id="25" name="TextBox 25"/>
          <p:cNvSpPr txBox="1"/>
          <p:nvPr/>
        </p:nvSpPr>
        <p:spPr>
          <a:xfrm>
            <a:off x="10236893" y="5775886"/>
            <a:ext cx="6685429"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CO5 – API Integration and Exception Handling</a:t>
            </a:r>
          </a:p>
        </p:txBody>
      </p:sp>
      <p:sp>
        <p:nvSpPr>
          <p:cNvPr id="26" name="TextBox 26"/>
          <p:cNvSpPr txBox="1"/>
          <p:nvPr/>
        </p:nvSpPr>
        <p:spPr>
          <a:xfrm>
            <a:off x="10379329" y="6183556"/>
            <a:ext cx="8039536" cy="1208405"/>
          </a:xfrm>
          <a:prstGeom prst="rect">
            <a:avLst/>
          </a:prstGeom>
        </p:spPr>
        <p:txBody>
          <a:bodyPr lIns="0" tIns="0" rIns="0" bIns="0" rtlCol="0" anchor="t">
            <a:spAutoFit/>
          </a:bodyPr>
          <a:lstStyle/>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Implemented API integration using Fetch API.</a:t>
            </a:r>
          </a:p>
          <a:p>
            <a:pPr marL="496567" lvl="1" indent="-248284" algn="l">
              <a:lnSpc>
                <a:spcPts val="3219"/>
              </a:lnSpc>
              <a:buFont typeface="Arial"/>
              <a:buChar char="•"/>
            </a:pPr>
            <a:r>
              <a:rPr lang="en-US" sz="2299">
                <a:solidFill>
                  <a:srgbClr val="000000"/>
                </a:solidFill>
                <a:latin typeface="Times New Roman"/>
                <a:ea typeface="Times New Roman"/>
                <a:cs typeface="Times New Roman"/>
                <a:sym typeface="Times New Roman"/>
              </a:rPr>
              <a:t>Added exception handling using try–catch.</a:t>
            </a:r>
          </a:p>
          <a:p>
            <a:pPr algn="l">
              <a:lnSpc>
                <a:spcPts val="3219"/>
              </a:lnSpc>
              <a:spcBef>
                <a:spcPct val="0"/>
              </a:spcBef>
            </a:pPr>
            <a:endParaRPr lang="en-US" sz="2299">
              <a:solidFill>
                <a:srgbClr val="000000"/>
              </a:solidFill>
              <a:latin typeface="Times New Roman"/>
              <a:ea typeface="Times New Roman"/>
              <a:cs typeface="Times New Roman"/>
              <a:sym typeface="Times New Roman"/>
            </a:endParaRPr>
          </a:p>
        </p:txBody>
      </p:sp>
      <p:sp>
        <p:nvSpPr>
          <p:cNvPr id="27" name="Freeform 27"/>
          <p:cNvSpPr/>
          <p:nvPr/>
        </p:nvSpPr>
        <p:spPr>
          <a:xfrm>
            <a:off x="9525"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6"/>
            <a:stretch>
              <a:fillRect b="-7106"/>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236" y="-4238"/>
            <a:ext cx="18262415" cy="10282120"/>
            <a:chOff x="0" y="0"/>
            <a:chExt cx="6093521" cy="3929236"/>
          </a:xfrm>
        </p:grpSpPr>
        <p:sp>
          <p:nvSpPr>
            <p:cNvPr id="3" name="Freeform 3"/>
            <p:cNvSpPr/>
            <p:nvPr/>
          </p:nvSpPr>
          <p:spPr>
            <a:xfrm>
              <a:off x="0" y="0"/>
              <a:ext cx="6093521" cy="3929236"/>
            </a:xfrm>
            <a:custGeom>
              <a:avLst/>
              <a:gdLst/>
              <a:ahLst/>
              <a:cxnLst/>
              <a:rect l="l" t="t" r="r" b="b"/>
              <a:pathLst>
                <a:path w="6093521" h="3929236">
                  <a:moveTo>
                    <a:pt x="0" y="0"/>
                  </a:moveTo>
                  <a:lnTo>
                    <a:pt x="6093521" y="0"/>
                  </a:lnTo>
                  <a:lnTo>
                    <a:pt x="6093521" y="3929236"/>
                  </a:lnTo>
                  <a:lnTo>
                    <a:pt x="0" y="3929236"/>
                  </a:lnTo>
                  <a:close/>
                </a:path>
              </a:pathLst>
            </a:custGeom>
            <a:solidFill>
              <a:srgbClr val="FFF6E3"/>
            </a:solidFill>
          </p:spPr>
        </p:sp>
        <p:sp>
          <p:nvSpPr>
            <p:cNvPr id="4" name="TextBox 4"/>
            <p:cNvSpPr txBox="1"/>
            <p:nvPr/>
          </p:nvSpPr>
          <p:spPr>
            <a:xfrm>
              <a:off x="0" y="-57150"/>
              <a:ext cx="6093521" cy="398638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54377" y="1730351"/>
            <a:ext cx="8250286" cy="7971103"/>
            <a:chOff x="0" y="0"/>
            <a:chExt cx="2172915" cy="2099385"/>
          </a:xfrm>
        </p:grpSpPr>
        <p:sp>
          <p:nvSpPr>
            <p:cNvPr id="6" name="Freeform 6"/>
            <p:cNvSpPr/>
            <p:nvPr/>
          </p:nvSpPr>
          <p:spPr>
            <a:xfrm>
              <a:off x="0" y="0"/>
              <a:ext cx="2172915" cy="2099385"/>
            </a:xfrm>
            <a:custGeom>
              <a:avLst/>
              <a:gdLst/>
              <a:ahLst/>
              <a:cxnLst/>
              <a:rect l="l" t="t" r="r" b="b"/>
              <a:pathLst>
                <a:path w="2172915" h="2099385">
                  <a:moveTo>
                    <a:pt x="0" y="0"/>
                  </a:moveTo>
                  <a:lnTo>
                    <a:pt x="2172915" y="0"/>
                  </a:lnTo>
                  <a:lnTo>
                    <a:pt x="2172915" y="2099385"/>
                  </a:lnTo>
                  <a:lnTo>
                    <a:pt x="0" y="2099385"/>
                  </a:lnTo>
                  <a:close/>
                </a:path>
              </a:pathLst>
            </a:custGeom>
            <a:solidFill>
              <a:srgbClr val="FFFFFF"/>
            </a:solidFill>
          </p:spPr>
        </p:sp>
        <p:sp>
          <p:nvSpPr>
            <p:cNvPr id="7" name="TextBox 7"/>
            <p:cNvSpPr txBox="1"/>
            <p:nvPr/>
          </p:nvSpPr>
          <p:spPr>
            <a:xfrm>
              <a:off x="0" y="-57150"/>
              <a:ext cx="2172915" cy="215653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926565" y="1730351"/>
            <a:ext cx="7789112" cy="7971103"/>
            <a:chOff x="0" y="0"/>
            <a:chExt cx="2051453" cy="2099385"/>
          </a:xfrm>
        </p:grpSpPr>
        <p:sp>
          <p:nvSpPr>
            <p:cNvPr id="9" name="Freeform 9"/>
            <p:cNvSpPr/>
            <p:nvPr/>
          </p:nvSpPr>
          <p:spPr>
            <a:xfrm>
              <a:off x="0" y="0"/>
              <a:ext cx="2051453" cy="2099385"/>
            </a:xfrm>
            <a:custGeom>
              <a:avLst/>
              <a:gdLst/>
              <a:ahLst/>
              <a:cxnLst/>
              <a:rect l="l" t="t" r="r" b="b"/>
              <a:pathLst>
                <a:path w="2051453" h="2099385">
                  <a:moveTo>
                    <a:pt x="0" y="0"/>
                  </a:moveTo>
                  <a:lnTo>
                    <a:pt x="2051453" y="0"/>
                  </a:lnTo>
                  <a:lnTo>
                    <a:pt x="2051453" y="2099385"/>
                  </a:lnTo>
                  <a:lnTo>
                    <a:pt x="0" y="2099385"/>
                  </a:lnTo>
                  <a:close/>
                </a:path>
              </a:pathLst>
            </a:custGeom>
            <a:solidFill>
              <a:srgbClr val="FFFFFF"/>
            </a:solidFill>
          </p:spPr>
        </p:sp>
        <p:sp>
          <p:nvSpPr>
            <p:cNvPr id="10" name="TextBox 10"/>
            <p:cNvSpPr txBox="1"/>
            <p:nvPr/>
          </p:nvSpPr>
          <p:spPr>
            <a:xfrm>
              <a:off x="0" y="-57150"/>
              <a:ext cx="2051453" cy="215653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096411" y="3280720"/>
            <a:ext cx="7166218" cy="6145032"/>
          </a:xfrm>
          <a:custGeom>
            <a:avLst/>
            <a:gdLst/>
            <a:ahLst/>
            <a:cxnLst/>
            <a:rect l="l" t="t" r="r" b="b"/>
            <a:pathLst>
              <a:path w="7166218" h="6145032">
                <a:moveTo>
                  <a:pt x="0" y="0"/>
                </a:moveTo>
                <a:lnTo>
                  <a:pt x="7166218" y="0"/>
                </a:lnTo>
                <a:lnTo>
                  <a:pt x="7166218" y="6145032"/>
                </a:lnTo>
                <a:lnTo>
                  <a:pt x="0" y="6145032"/>
                </a:lnTo>
                <a:lnTo>
                  <a:pt x="0" y="0"/>
                </a:lnTo>
                <a:close/>
              </a:path>
            </a:pathLst>
          </a:custGeom>
          <a:blipFill>
            <a:blip r:embed="rId2"/>
            <a:stretch>
              <a:fillRect/>
            </a:stretch>
          </a:blipFill>
        </p:spPr>
      </p:sp>
      <p:sp>
        <p:nvSpPr>
          <p:cNvPr id="12" name="Freeform 12"/>
          <p:cNvSpPr/>
          <p:nvPr/>
        </p:nvSpPr>
        <p:spPr>
          <a:xfrm>
            <a:off x="11253599" y="3280720"/>
            <a:ext cx="5371497" cy="6145032"/>
          </a:xfrm>
          <a:custGeom>
            <a:avLst/>
            <a:gdLst/>
            <a:ahLst/>
            <a:cxnLst/>
            <a:rect l="l" t="t" r="r" b="b"/>
            <a:pathLst>
              <a:path w="5371497" h="6145032">
                <a:moveTo>
                  <a:pt x="0" y="0"/>
                </a:moveTo>
                <a:lnTo>
                  <a:pt x="5371497" y="0"/>
                </a:lnTo>
                <a:lnTo>
                  <a:pt x="5371497" y="6145032"/>
                </a:lnTo>
                <a:lnTo>
                  <a:pt x="0" y="6145032"/>
                </a:lnTo>
                <a:lnTo>
                  <a:pt x="0" y="0"/>
                </a:lnTo>
                <a:close/>
              </a:path>
            </a:pathLst>
          </a:custGeom>
          <a:blipFill>
            <a:blip r:embed="rId3"/>
            <a:stretch>
              <a:fillRect t="-3762" b="-299"/>
            </a:stretch>
          </a:blipFill>
        </p:spPr>
      </p:sp>
      <p:sp>
        <p:nvSpPr>
          <p:cNvPr id="13" name="TextBox 13"/>
          <p:cNvSpPr txBox="1"/>
          <p:nvPr/>
        </p:nvSpPr>
        <p:spPr>
          <a:xfrm>
            <a:off x="4082979" y="378328"/>
            <a:ext cx="10607263" cy="775847"/>
          </a:xfrm>
          <a:prstGeom prst="rect">
            <a:avLst/>
          </a:prstGeom>
        </p:spPr>
        <p:txBody>
          <a:bodyPr lIns="0" tIns="0" rIns="0" bIns="0" rtlCol="0" anchor="t">
            <a:spAutoFit/>
          </a:bodyPr>
          <a:lstStyle/>
          <a:p>
            <a:pPr algn="ctr">
              <a:lnSpc>
                <a:spcPts val="5936"/>
              </a:lnSpc>
            </a:pPr>
            <a:r>
              <a:rPr lang="en-US" sz="5600">
                <a:solidFill>
                  <a:srgbClr val="000000"/>
                </a:solidFill>
                <a:latin typeface="Hammersmith One"/>
                <a:ea typeface="Hammersmith One"/>
                <a:cs typeface="Hammersmith One"/>
                <a:sym typeface="Hammersmith One"/>
              </a:rPr>
              <a:t>CO’S ATTAINMENTS(DSA)</a:t>
            </a:r>
          </a:p>
        </p:txBody>
      </p:sp>
      <p:sp>
        <p:nvSpPr>
          <p:cNvPr id="14" name="TextBox 14"/>
          <p:cNvSpPr txBox="1"/>
          <p:nvPr/>
        </p:nvSpPr>
        <p:spPr>
          <a:xfrm>
            <a:off x="2559610" y="2123213"/>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CO1 – Algorithm Design</a:t>
            </a:r>
          </a:p>
        </p:txBody>
      </p:sp>
      <p:sp>
        <p:nvSpPr>
          <p:cNvPr id="15" name="TextBox 15"/>
          <p:cNvSpPr txBox="1"/>
          <p:nvPr/>
        </p:nvSpPr>
        <p:spPr>
          <a:xfrm>
            <a:off x="11701210" y="2327048"/>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CO2 – Abstract Data Type</a:t>
            </a:r>
          </a:p>
        </p:txBody>
      </p:sp>
      <p:sp>
        <p:nvSpPr>
          <p:cNvPr id="16" name="Freeform 16"/>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4"/>
            <a:stretch>
              <a:fillRect b="-7106"/>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236" y="17328"/>
            <a:ext cx="18305547" cy="10238988"/>
            <a:chOff x="0" y="0"/>
            <a:chExt cx="6093521" cy="3929236"/>
          </a:xfrm>
        </p:grpSpPr>
        <p:sp>
          <p:nvSpPr>
            <p:cNvPr id="3" name="Freeform 3"/>
            <p:cNvSpPr/>
            <p:nvPr/>
          </p:nvSpPr>
          <p:spPr>
            <a:xfrm>
              <a:off x="0" y="0"/>
              <a:ext cx="6093521" cy="3929236"/>
            </a:xfrm>
            <a:custGeom>
              <a:avLst/>
              <a:gdLst/>
              <a:ahLst/>
              <a:cxnLst/>
              <a:rect l="l" t="t" r="r" b="b"/>
              <a:pathLst>
                <a:path w="6093521" h="3929236">
                  <a:moveTo>
                    <a:pt x="0" y="0"/>
                  </a:moveTo>
                  <a:lnTo>
                    <a:pt x="6093521" y="0"/>
                  </a:lnTo>
                  <a:lnTo>
                    <a:pt x="6093521" y="3929236"/>
                  </a:lnTo>
                  <a:lnTo>
                    <a:pt x="0" y="3929236"/>
                  </a:lnTo>
                  <a:close/>
                </a:path>
              </a:pathLst>
            </a:custGeom>
            <a:solidFill>
              <a:srgbClr val="FFF6E3"/>
            </a:solidFill>
          </p:spPr>
        </p:sp>
        <p:sp>
          <p:nvSpPr>
            <p:cNvPr id="4" name="TextBox 4"/>
            <p:cNvSpPr txBox="1"/>
            <p:nvPr/>
          </p:nvSpPr>
          <p:spPr>
            <a:xfrm>
              <a:off x="0" y="-57150"/>
              <a:ext cx="6093521" cy="398638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54377" y="1730351"/>
            <a:ext cx="8250286" cy="7971103"/>
            <a:chOff x="0" y="0"/>
            <a:chExt cx="2172915" cy="2099385"/>
          </a:xfrm>
        </p:grpSpPr>
        <p:sp>
          <p:nvSpPr>
            <p:cNvPr id="6" name="Freeform 6"/>
            <p:cNvSpPr/>
            <p:nvPr/>
          </p:nvSpPr>
          <p:spPr>
            <a:xfrm>
              <a:off x="0" y="0"/>
              <a:ext cx="2172915" cy="2099385"/>
            </a:xfrm>
            <a:custGeom>
              <a:avLst/>
              <a:gdLst/>
              <a:ahLst/>
              <a:cxnLst/>
              <a:rect l="l" t="t" r="r" b="b"/>
              <a:pathLst>
                <a:path w="2172915" h="2099385">
                  <a:moveTo>
                    <a:pt x="0" y="0"/>
                  </a:moveTo>
                  <a:lnTo>
                    <a:pt x="2172915" y="0"/>
                  </a:lnTo>
                  <a:lnTo>
                    <a:pt x="2172915" y="2099385"/>
                  </a:lnTo>
                  <a:lnTo>
                    <a:pt x="0" y="2099385"/>
                  </a:lnTo>
                  <a:close/>
                </a:path>
              </a:pathLst>
            </a:custGeom>
            <a:solidFill>
              <a:srgbClr val="FFFFFF"/>
            </a:solidFill>
          </p:spPr>
        </p:sp>
        <p:sp>
          <p:nvSpPr>
            <p:cNvPr id="7" name="TextBox 7"/>
            <p:cNvSpPr txBox="1"/>
            <p:nvPr/>
          </p:nvSpPr>
          <p:spPr>
            <a:xfrm>
              <a:off x="0" y="-57150"/>
              <a:ext cx="2172915" cy="215653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926565" y="1730351"/>
            <a:ext cx="7789112" cy="7971103"/>
            <a:chOff x="0" y="0"/>
            <a:chExt cx="2051453" cy="2099385"/>
          </a:xfrm>
        </p:grpSpPr>
        <p:sp>
          <p:nvSpPr>
            <p:cNvPr id="9" name="Freeform 9"/>
            <p:cNvSpPr/>
            <p:nvPr/>
          </p:nvSpPr>
          <p:spPr>
            <a:xfrm>
              <a:off x="0" y="0"/>
              <a:ext cx="2051453" cy="2099385"/>
            </a:xfrm>
            <a:custGeom>
              <a:avLst/>
              <a:gdLst/>
              <a:ahLst/>
              <a:cxnLst/>
              <a:rect l="l" t="t" r="r" b="b"/>
              <a:pathLst>
                <a:path w="2051453" h="2099385">
                  <a:moveTo>
                    <a:pt x="0" y="0"/>
                  </a:moveTo>
                  <a:lnTo>
                    <a:pt x="2051453" y="0"/>
                  </a:lnTo>
                  <a:lnTo>
                    <a:pt x="2051453" y="2099385"/>
                  </a:lnTo>
                  <a:lnTo>
                    <a:pt x="0" y="2099385"/>
                  </a:lnTo>
                  <a:close/>
                </a:path>
              </a:pathLst>
            </a:custGeom>
            <a:solidFill>
              <a:srgbClr val="FFFFFF"/>
            </a:solidFill>
          </p:spPr>
        </p:sp>
        <p:sp>
          <p:nvSpPr>
            <p:cNvPr id="10" name="TextBox 10"/>
            <p:cNvSpPr txBox="1"/>
            <p:nvPr/>
          </p:nvSpPr>
          <p:spPr>
            <a:xfrm>
              <a:off x="0" y="-57150"/>
              <a:ext cx="2051453" cy="215653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2073167" y="3068993"/>
            <a:ext cx="5212706" cy="6356958"/>
          </a:xfrm>
          <a:custGeom>
            <a:avLst/>
            <a:gdLst/>
            <a:ahLst/>
            <a:cxnLst/>
            <a:rect l="l" t="t" r="r" b="b"/>
            <a:pathLst>
              <a:path w="5212706" h="6356958">
                <a:moveTo>
                  <a:pt x="0" y="0"/>
                </a:moveTo>
                <a:lnTo>
                  <a:pt x="5212706" y="0"/>
                </a:lnTo>
                <a:lnTo>
                  <a:pt x="5212706" y="6356959"/>
                </a:lnTo>
                <a:lnTo>
                  <a:pt x="0" y="6356959"/>
                </a:lnTo>
                <a:lnTo>
                  <a:pt x="0" y="0"/>
                </a:lnTo>
                <a:close/>
              </a:path>
            </a:pathLst>
          </a:custGeom>
          <a:blipFill>
            <a:blip r:embed="rId2"/>
            <a:stretch>
              <a:fillRect/>
            </a:stretch>
          </a:blipFill>
        </p:spPr>
      </p:sp>
      <p:sp>
        <p:nvSpPr>
          <p:cNvPr id="12" name="Freeform 12"/>
          <p:cNvSpPr/>
          <p:nvPr/>
        </p:nvSpPr>
        <p:spPr>
          <a:xfrm>
            <a:off x="10710185" y="3068993"/>
            <a:ext cx="6221873" cy="6356958"/>
          </a:xfrm>
          <a:custGeom>
            <a:avLst/>
            <a:gdLst/>
            <a:ahLst/>
            <a:cxnLst/>
            <a:rect l="l" t="t" r="r" b="b"/>
            <a:pathLst>
              <a:path w="6221873" h="6356958">
                <a:moveTo>
                  <a:pt x="0" y="0"/>
                </a:moveTo>
                <a:lnTo>
                  <a:pt x="6221872" y="0"/>
                </a:lnTo>
                <a:lnTo>
                  <a:pt x="6221872" y="6356959"/>
                </a:lnTo>
                <a:lnTo>
                  <a:pt x="0" y="6356959"/>
                </a:lnTo>
                <a:lnTo>
                  <a:pt x="0" y="0"/>
                </a:lnTo>
                <a:close/>
              </a:path>
            </a:pathLst>
          </a:custGeom>
          <a:blipFill>
            <a:blip r:embed="rId3"/>
            <a:stretch>
              <a:fillRect/>
            </a:stretch>
          </a:blipFill>
        </p:spPr>
      </p:sp>
      <p:sp>
        <p:nvSpPr>
          <p:cNvPr id="13" name="TextBox 13"/>
          <p:cNvSpPr txBox="1"/>
          <p:nvPr/>
        </p:nvSpPr>
        <p:spPr>
          <a:xfrm>
            <a:off x="2559610" y="2210402"/>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CO3 – Stack &amp; Queue</a:t>
            </a:r>
          </a:p>
        </p:txBody>
      </p:sp>
      <p:sp>
        <p:nvSpPr>
          <p:cNvPr id="14" name="TextBox 14"/>
          <p:cNvSpPr txBox="1"/>
          <p:nvPr/>
        </p:nvSpPr>
        <p:spPr>
          <a:xfrm>
            <a:off x="11701210" y="2414238"/>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CO4 – Java Collections</a:t>
            </a:r>
          </a:p>
        </p:txBody>
      </p:sp>
      <p:sp>
        <p:nvSpPr>
          <p:cNvPr id="15" name="Freeform 15"/>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4"/>
            <a:stretch>
              <a:fillRect b="-7106"/>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330" y="60460"/>
            <a:ext cx="18283981" cy="10217422"/>
            <a:chOff x="0" y="0"/>
            <a:chExt cx="6093521" cy="3929236"/>
          </a:xfrm>
        </p:grpSpPr>
        <p:sp>
          <p:nvSpPr>
            <p:cNvPr id="3" name="Freeform 3"/>
            <p:cNvSpPr/>
            <p:nvPr/>
          </p:nvSpPr>
          <p:spPr>
            <a:xfrm>
              <a:off x="0" y="0"/>
              <a:ext cx="6093521" cy="3929236"/>
            </a:xfrm>
            <a:custGeom>
              <a:avLst/>
              <a:gdLst/>
              <a:ahLst/>
              <a:cxnLst/>
              <a:rect l="l" t="t" r="r" b="b"/>
              <a:pathLst>
                <a:path w="6093521" h="3929236">
                  <a:moveTo>
                    <a:pt x="0" y="0"/>
                  </a:moveTo>
                  <a:lnTo>
                    <a:pt x="6093521" y="0"/>
                  </a:lnTo>
                  <a:lnTo>
                    <a:pt x="6093521" y="3929236"/>
                  </a:lnTo>
                  <a:lnTo>
                    <a:pt x="0" y="3929236"/>
                  </a:lnTo>
                  <a:close/>
                </a:path>
              </a:pathLst>
            </a:custGeom>
            <a:solidFill>
              <a:srgbClr val="FFF6E3"/>
            </a:solidFill>
          </p:spPr>
        </p:sp>
        <p:sp>
          <p:nvSpPr>
            <p:cNvPr id="4" name="TextBox 4"/>
            <p:cNvSpPr txBox="1"/>
            <p:nvPr/>
          </p:nvSpPr>
          <p:spPr>
            <a:xfrm>
              <a:off x="0" y="-57150"/>
              <a:ext cx="6093521" cy="398638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54377" y="1730351"/>
            <a:ext cx="8250286" cy="7971103"/>
            <a:chOff x="0" y="0"/>
            <a:chExt cx="2172915" cy="2099385"/>
          </a:xfrm>
        </p:grpSpPr>
        <p:sp>
          <p:nvSpPr>
            <p:cNvPr id="6" name="Freeform 6"/>
            <p:cNvSpPr/>
            <p:nvPr/>
          </p:nvSpPr>
          <p:spPr>
            <a:xfrm>
              <a:off x="0" y="0"/>
              <a:ext cx="2172915" cy="2099385"/>
            </a:xfrm>
            <a:custGeom>
              <a:avLst/>
              <a:gdLst/>
              <a:ahLst/>
              <a:cxnLst/>
              <a:rect l="l" t="t" r="r" b="b"/>
              <a:pathLst>
                <a:path w="2172915" h="2099385">
                  <a:moveTo>
                    <a:pt x="0" y="0"/>
                  </a:moveTo>
                  <a:lnTo>
                    <a:pt x="2172915" y="0"/>
                  </a:lnTo>
                  <a:lnTo>
                    <a:pt x="2172915" y="2099385"/>
                  </a:lnTo>
                  <a:lnTo>
                    <a:pt x="0" y="2099385"/>
                  </a:lnTo>
                  <a:close/>
                </a:path>
              </a:pathLst>
            </a:custGeom>
            <a:solidFill>
              <a:srgbClr val="FFFFFF"/>
            </a:solidFill>
          </p:spPr>
        </p:sp>
        <p:sp>
          <p:nvSpPr>
            <p:cNvPr id="7" name="TextBox 7"/>
            <p:cNvSpPr txBox="1"/>
            <p:nvPr/>
          </p:nvSpPr>
          <p:spPr>
            <a:xfrm>
              <a:off x="0" y="-57150"/>
              <a:ext cx="2172915" cy="215653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926565" y="1730351"/>
            <a:ext cx="7789112" cy="7971103"/>
            <a:chOff x="0" y="0"/>
            <a:chExt cx="2051453" cy="2099385"/>
          </a:xfrm>
        </p:grpSpPr>
        <p:sp>
          <p:nvSpPr>
            <p:cNvPr id="9" name="Freeform 9"/>
            <p:cNvSpPr/>
            <p:nvPr/>
          </p:nvSpPr>
          <p:spPr>
            <a:xfrm>
              <a:off x="0" y="0"/>
              <a:ext cx="2051453" cy="2099385"/>
            </a:xfrm>
            <a:custGeom>
              <a:avLst/>
              <a:gdLst/>
              <a:ahLst/>
              <a:cxnLst/>
              <a:rect l="l" t="t" r="r" b="b"/>
              <a:pathLst>
                <a:path w="2051453" h="2099385">
                  <a:moveTo>
                    <a:pt x="0" y="0"/>
                  </a:moveTo>
                  <a:lnTo>
                    <a:pt x="2051453" y="0"/>
                  </a:lnTo>
                  <a:lnTo>
                    <a:pt x="2051453" y="2099385"/>
                  </a:lnTo>
                  <a:lnTo>
                    <a:pt x="0" y="2099385"/>
                  </a:lnTo>
                  <a:close/>
                </a:path>
              </a:pathLst>
            </a:custGeom>
            <a:solidFill>
              <a:srgbClr val="FFFFFF"/>
            </a:solidFill>
          </p:spPr>
        </p:sp>
        <p:sp>
          <p:nvSpPr>
            <p:cNvPr id="10" name="TextBox 10"/>
            <p:cNvSpPr txBox="1"/>
            <p:nvPr/>
          </p:nvSpPr>
          <p:spPr>
            <a:xfrm>
              <a:off x="0" y="-57150"/>
              <a:ext cx="2051453" cy="215653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802997" y="3102383"/>
            <a:ext cx="5753047" cy="6356958"/>
          </a:xfrm>
          <a:custGeom>
            <a:avLst/>
            <a:gdLst/>
            <a:ahLst/>
            <a:cxnLst/>
            <a:rect l="l" t="t" r="r" b="b"/>
            <a:pathLst>
              <a:path w="5753047" h="6356958">
                <a:moveTo>
                  <a:pt x="0" y="0"/>
                </a:moveTo>
                <a:lnTo>
                  <a:pt x="5753047" y="0"/>
                </a:lnTo>
                <a:lnTo>
                  <a:pt x="5753047" y="6356958"/>
                </a:lnTo>
                <a:lnTo>
                  <a:pt x="0" y="6356958"/>
                </a:lnTo>
                <a:lnTo>
                  <a:pt x="0" y="0"/>
                </a:lnTo>
                <a:close/>
              </a:path>
            </a:pathLst>
          </a:custGeom>
          <a:blipFill>
            <a:blip r:embed="rId2"/>
            <a:stretch>
              <a:fillRect/>
            </a:stretch>
          </a:blipFill>
        </p:spPr>
      </p:sp>
      <p:sp>
        <p:nvSpPr>
          <p:cNvPr id="12" name="Freeform 12"/>
          <p:cNvSpPr/>
          <p:nvPr/>
        </p:nvSpPr>
        <p:spPr>
          <a:xfrm>
            <a:off x="10464555" y="4128329"/>
            <a:ext cx="6713131" cy="4305066"/>
          </a:xfrm>
          <a:custGeom>
            <a:avLst/>
            <a:gdLst/>
            <a:ahLst/>
            <a:cxnLst/>
            <a:rect l="l" t="t" r="r" b="b"/>
            <a:pathLst>
              <a:path w="6713131" h="4305066">
                <a:moveTo>
                  <a:pt x="0" y="0"/>
                </a:moveTo>
                <a:lnTo>
                  <a:pt x="6713132" y="0"/>
                </a:lnTo>
                <a:lnTo>
                  <a:pt x="6713132" y="4305066"/>
                </a:lnTo>
                <a:lnTo>
                  <a:pt x="0" y="4305066"/>
                </a:lnTo>
                <a:lnTo>
                  <a:pt x="0" y="0"/>
                </a:lnTo>
                <a:close/>
              </a:path>
            </a:pathLst>
          </a:custGeom>
          <a:blipFill>
            <a:blip r:embed="rId3"/>
            <a:stretch>
              <a:fillRect/>
            </a:stretch>
          </a:blipFill>
        </p:spPr>
      </p:sp>
      <p:sp>
        <p:nvSpPr>
          <p:cNvPr id="13" name="TextBox 13"/>
          <p:cNvSpPr txBox="1"/>
          <p:nvPr/>
        </p:nvSpPr>
        <p:spPr>
          <a:xfrm>
            <a:off x="2559610" y="2424202"/>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CO5 – Real Application</a:t>
            </a:r>
          </a:p>
        </p:txBody>
      </p:sp>
      <p:sp>
        <p:nvSpPr>
          <p:cNvPr id="14" name="TextBox 14"/>
          <p:cNvSpPr txBox="1"/>
          <p:nvPr/>
        </p:nvSpPr>
        <p:spPr>
          <a:xfrm>
            <a:off x="11701210" y="2628037"/>
            <a:ext cx="4239821" cy="47434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Times New Roman"/>
                <a:ea typeface="Times New Roman"/>
                <a:cs typeface="Times New Roman"/>
                <a:sym typeface="Times New Roman"/>
              </a:rPr>
              <a:t>CO6 – Full Program</a:t>
            </a:r>
          </a:p>
        </p:txBody>
      </p:sp>
      <p:sp>
        <p:nvSpPr>
          <p:cNvPr id="15" name="Freeform 15"/>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4"/>
            <a:stretch>
              <a:fillRect b="-7106"/>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842961"/>
            <a:ext cx="6143096" cy="7605254"/>
          </a:xfrm>
          <a:custGeom>
            <a:avLst/>
            <a:gdLst/>
            <a:ahLst/>
            <a:cxnLst/>
            <a:rect l="l" t="t" r="r" b="b"/>
            <a:pathLst>
              <a:path w="6143096" h="7605254">
                <a:moveTo>
                  <a:pt x="0" y="0"/>
                </a:moveTo>
                <a:lnTo>
                  <a:pt x="6143096" y="0"/>
                </a:lnTo>
                <a:lnTo>
                  <a:pt x="6143096" y="7605254"/>
                </a:lnTo>
                <a:lnTo>
                  <a:pt x="0" y="7605254"/>
                </a:lnTo>
                <a:lnTo>
                  <a:pt x="0" y="0"/>
                </a:lnTo>
                <a:close/>
              </a:path>
            </a:pathLst>
          </a:custGeom>
          <a:blipFill>
            <a:blip r:embed="rId2"/>
            <a:stretch>
              <a:fillRect/>
            </a:stretch>
          </a:blipFill>
        </p:spPr>
      </p:sp>
      <p:sp>
        <p:nvSpPr>
          <p:cNvPr id="3" name="Freeform 3"/>
          <p:cNvSpPr/>
          <p:nvPr/>
        </p:nvSpPr>
        <p:spPr>
          <a:xfrm>
            <a:off x="9665457" y="1668872"/>
            <a:ext cx="6723401" cy="3865955"/>
          </a:xfrm>
          <a:custGeom>
            <a:avLst/>
            <a:gdLst/>
            <a:ahLst/>
            <a:cxnLst/>
            <a:rect l="l" t="t" r="r" b="b"/>
            <a:pathLst>
              <a:path w="6723401" h="3865955">
                <a:moveTo>
                  <a:pt x="0" y="0"/>
                </a:moveTo>
                <a:lnTo>
                  <a:pt x="6723400" y="0"/>
                </a:lnTo>
                <a:lnTo>
                  <a:pt x="6723400" y="3865956"/>
                </a:lnTo>
                <a:lnTo>
                  <a:pt x="0" y="3865956"/>
                </a:lnTo>
                <a:lnTo>
                  <a:pt x="0" y="0"/>
                </a:lnTo>
                <a:close/>
              </a:path>
            </a:pathLst>
          </a:custGeom>
          <a:blipFill>
            <a:blip r:embed="rId3"/>
            <a:stretch>
              <a:fillRect/>
            </a:stretch>
          </a:blipFill>
        </p:spPr>
      </p:sp>
      <p:sp>
        <p:nvSpPr>
          <p:cNvPr id="4" name="Freeform 4"/>
          <p:cNvSpPr/>
          <p:nvPr/>
        </p:nvSpPr>
        <p:spPr>
          <a:xfrm>
            <a:off x="9665457" y="5841096"/>
            <a:ext cx="6723401" cy="3882764"/>
          </a:xfrm>
          <a:custGeom>
            <a:avLst/>
            <a:gdLst/>
            <a:ahLst/>
            <a:cxnLst/>
            <a:rect l="l" t="t" r="r" b="b"/>
            <a:pathLst>
              <a:path w="6723401" h="3882764">
                <a:moveTo>
                  <a:pt x="0" y="0"/>
                </a:moveTo>
                <a:lnTo>
                  <a:pt x="6723400" y="0"/>
                </a:lnTo>
                <a:lnTo>
                  <a:pt x="6723400" y="3882764"/>
                </a:lnTo>
                <a:lnTo>
                  <a:pt x="0" y="3882764"/>
                </a:lnTo>
                <a:lnTo>
                  <a:pt x="0" y="0"/>
                </a:lnTo>
                <a:close/>
              </a:path>
            </a:pathLst>
          </a:custGeom>
          <a:blipFill>
            <a:blip r:embed="rId4"/>
            <a:stretch>
              <a:fillRect/>
            </a:stretch>
          </a:blipFill>
        </p:spPr>
      </p:sp>
      <p:sp>
        <p:nvSpPr>
          <p:cNvPr id="5" name="TextBox 5"/>
          <p:cNvSpPr txBox="1"/>
          <p:nvPr/>
        </p:nvSpPr>
        <p:spPr>
          <a:xfrm>
            <a:off x="3840368" y="252853"/>
            <a:ext cx="10607263" cy="775847"/>
          </a:xfrm>
          <a:prstGeom prst="rect">
            <a:avLst/>
          </a:prstGeom>
        </p:spPr>
        <p:txBody>
          <a:bodyPr lIns="0" tIns="0" rIns="0" bIns="0" rtlCol="0" anchor="t">
            <a:spAutoFit/>
          </a:bodyPr>
          <a:lstStyle/>
          <a:p>
            <a:pPr algn="ctr">
              <a:lnSpc>
                <a:spcPts val="5936"/>
              </a:lnSpc>
            </a:pPr>
            <a:r>
              <a:rPr lang="en-US" sz="5600">
                <a:solidFill>
                  <a:srgbClr val="000000"/>
                </a:solidFill>
                <a:latin typeface="Hammersmith One"/>
                <a:ea typeface="Hammersmith One"/>
                <a:cs typeface="Hammersmith One"/>
                <a:sym typeface="Hammersmith One"/>
              </a:rPr>
              <a:t>WEBSITE</a:t>
            </a:r>
          </a:p>
        </p:txBody>
      </p:sp>
      <p:sp>
        <p:nvSpPr>
          <p:cNvPr id="6" name="Freeform 6"/>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5"/>
            <a:stretch>
              <a:fillRect b="-7106"/>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450760"/>
            <a:ext cx="6394355" cy="3692740"/>
          </a:xfrm>
          <a:custGeom>
            <a:avLst/>
            <a:gdLst/>
            <a:ahLst/>
            <a:cxnLst/>
            <a:rect l="l" t="t" r="r" b="b"/>
            <a:pathLst>
              <a:path w="6394355" h="3692740">
                <a:moveTo>
                  <a:pt x="0" y="0"/>
                </a:moveTo>
                <a:lnTo>
                  <a:pt x="6394355" y="0"/>
                </a:lnTo>
                <a:lnTo>
                  <a:pt x="6394355" y="3692740"/>
                </a:lnTo>
                <a:lnTo>
                  <a:pt x="0" y="3692740"/>
                </a:lnTo>
                <a:lnTo>
                  <a:pt x="0" y="0"/>
                </a:lnTo>
                <a:close/>
              </a:path>
            </a:pathLst>
          </a:custGeom>
          <a:blipFill>
            <a:blip r:embed="rId2"/>
            <a:stretch>
              <a:fillRect/>
            </a:stretch>
          </a:blipFill>
        </p:spPr>
      </p:sp>
      <p:sp>
        <p:nvSpPr>
          <p:cNvPr id="3" name="Freeform 3"/>
          <p:cNvSpPr/>
          <p:nvPr/>
        </p:nvSpPr>
        <p:spPr>
          <a:xfrm>
            <a:off x="10693221" y="1450760"/>
            <a:ext cx="6439469" cy="3767089"/>
          </a:xfrm>
          <a:custGeom>
            <a:avLst/>
            <a:gdLst/>
            <a:ahLst/>
            <a:cxnLst/>
            <a:rect l="l" t="t" r="r" b="b"/>
            <a:pathLst>
              <a:path w="6439469" h="3767089">
                <a:moveTo>
                  <a:pt x="0" y="0"/>
                </a:moveTo>
                <a:lnTo>
                  <a:pt x="6439469" y="0"/>
                </a:lnTo>
                <a:lnTo>
                  <a:pt x="6439469" y="3767089"/>
                </a:lnTo>
                <a:lnTo>
                  <a:pt x="0" y="3767089"/>
                </a:lnTo>
                <a:lnTo>
                  <a:pt x="0" y="0"/>
                </a:lnTo>
                <a:close/>
              </a:path>
            </a:pathLst>
          </a:custGeom>
          <a:blipFill>
            <a:blip r:embed="rId3"/>
            <a:stretch>
              <a:fillRect/>
            </a:stretch>
          </a:blipFill>
        </p:spPr>
      </p:sp>
      <p:sp>
        <p:nvSpPr>
          <p:cNvPr id="4" name="Freeform 4"/>
          <p:cNvSpPr/>
          <p:nvPr/>
        </p:nvSpPr>
        <p:spPr>
          <a:xfrm>
            <a:off x="1028700" y="5741261"/>
            <a:ext cx="6394355" cy="3684747"/>
          </a:xfrm>
          <a:custGeom>
            <a:avLst/>
            <a:gdLst/>
            <a:ahLst/>
            <a:cxnLst/>
            <a:rect l="l" t="t" r="r" b="b"/>
            <a:pathLst>
              <a:path w="6394355" h="3684747">
                <a:moveTo>
                  <a:pt x="0" y="0"/>
                </a:moveTo>
                <a:lnTo>
                  <a:pt x="6394355" y="0"/>
                </a:lnTo>
                <a:lnTo>
                  <a:pt x="6394355" y="3684747"/>
                </a:lnTo>
                <a:lnTo>
                  <a:pt x="0" y="3684747"/>
                </a:lnTo>
                <a:lnTo>
                  <a:pt x="0" y="0"/>
                </a:lnTo>
                <a:close/>
              </a:path>
            </a:pathLst>
          </a:custGeom>
          <a:blipFill>
            <a:blip r:embed="rId4"/>
            <a:stretch>
              <a:fillRect/>
            </a:stretch>
          </a:blipFill>
        </p:spPr>
      </p:sp>
      <p:sp>
        <p:nvSpPr>
          <p:cNvPr id="5" name="Freeform 5"/>
          <p:cNvSpPr/>
          <p:nvPr/>
        </p:nvSpPr>
        <p:spPr>
          <a:xfrm>
            <a:off x="10693221" y="5741261"/>
            <a:ext cx="6439469" cy="3710744"/>
          </a:xfrm>
          <a:custGeom>
            <a:avLst/>
            <a:gdLst/>
            <a:ahLst/>
            <a:cxnLst/>
            <a:rect l="l" t="t" r="r" b="b"/>
            <a:pathLst>
              <a:path w="6439469" h="3710744">
                <a:moveTo>
                  <a:pt x="0" y="0"/>
                </a:moveTo>
                <a:lnTo>
                  <a:pt x="6439469" y="0"/>
                </a:lnTo>
                <a:lnTo>
                  <a:pt x="6439469" y="3710744"/>
                </a:lnTo>
                <a:lnTo>
                  <a:pt x="0" y="3710744"/>
                </a:lnTo>
                <a:lnTo>
                  <a:pt x="0" y="0"/>
                </a:lnTo>
                <a:close/>
              </a:path>
            </a:pathLst>
          </a:custGeom>
          <a:blipFill>
            <a:blip r:embed="rId5"/>
            <a:stretch>
              <a:fillRect/>
            </a:stretch>
          </a:blipFill>
        </p:spPr>
      </p:sp>
      <p:sp>
        <p:nvSpPr>
          <p:cNvPr id="6" name="TextBox 6"/>
          <p:cNvSpPr txBox="1"/>
          <p:nvPr/>
        </p:nvSpPr>
        <p:spPr>
          <a:xfrm>
            <a:off x="3840368" y="252853"/>
            <a:ext cx="10607263" cy="775847"/>
          </a:xfrm>
          <a:prstGeom prst="rect">
            <a:avLst/>
          </a:prstGeom>
        </p:spPr>
        <p:txBody>
          <a:bodyPr lIns="0" tIns="0" rIns="0" bIns="0" rtlCol="0" anchor="t">
            <a:spAutoFit/>
          </a:bodyPr>
          <a:lstStyle/>
          <a:p>
            <a:pPr algn="ctr">
              <a:lnSpc>
                <a:spcPts val="5936"/>
              </a:lnSpc>
            </a:pPr>
            <a:r>
              <a:rPr lang="en-US" sz="5600">
                <a:solidFill>
                  <a:srgbClr val="000000"/>
                </a:solidFill>
                <a:latin typeface="Hammersmith One"/>
                <a:ea typeface="Hammersmith One"/>
                <a:cs typeface="Hammersmith One"/>
                <a:sym typeface="Hammersmith One"/>
              </a:rPr>
              <a:t>WEBSITE</a:t>
            </a:r>
          </a:p>
        </p:txBody>
      </p:sp>
      <p:sp>
        <p:nvSpPr>
          <p:cNvPr id="7" name="Freeform 7"/>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6"/>
            <a:stretch>
              <a:fillRect b="-7106"/>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849" y="5475851"/>
            <a:ext cx="18274132" cy="4743404"/>
            <a:chOff x="0" y="0"/>
            <a:chExt cx="4932219" cy="1323131"/>
          </a:xfrm>
        </p:grpSpPr>
        <p:sp>
          <p:nvSpPr>
            <p:cNvPr id="3" name="Freeform 3"/>
            <p:cNvSpPr/>
            <p:nvPr/>
          </p:nvSpPr>
          <p:spPr>
            <a:xfrm>
              <a:off x="0" y="0"/>
              <a:ext cx="4932219" cy="1323131"/>
            </a:xfrm>
            <a:custGeom>
              <a:avLst/>
              <a:gdLst/>
              <a:ahLst/>
              <a:cxnLst/>
              <a:rect l="l" t="t" r="r" b="b"/>
              <a:pathLst>
                <a:path w="4932219" h="1323131">
                  <a:moveTo>
                    <a:pt x="0" y="0"/>
                  </a:moveTo>
                  <a:lnTo>
                    <a:pt x="4932219" y="0"/>
                  </a:lnTo>
                  <a:lnTo>
                    <a:pt x="4932219" y="1323131"/>
                  </a:lnTo>
                  <a:lnTo>
                    <a:pt x="0" y="1323131"/>
                  </a:lnTo>
                  <a:close/>
                </a:path>
              </a:pathLst>
            </a:custGeom>
            <a:solidFill>
              <a:srgbClr val="FFF6E3"/>
            </a:solidFill>
          </p:spPr>
        </p:sp>
        <p:sp>
          <p:nvSpPr>
            <p:cNvPr id="4" name="TextBox 4"/>
            <p:cNvSpPr txBox="1"/>
            <p:nvPr/>
          </p:nvSpPr>
          <p:spPr>
            <a:xfrm>
              <a:off x="0" y="-57150"/>
              <a:ext cx="4932219" cy="138028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6662450" y="382209"/>
            <a:ext cx="4963099" cy="788927"/>
          </a:xfrm>
          <a:prstGeom prst="rect">
            <a:avLst/>
          </a:prstGeom>
        </p:spPr>
        <p:txBody>
          <a:bodyPr lIns="0" tIns="0" rIns="0" bIns="0" rtlCol="0" anchor="t">
            <a:spAutoFit/>
          </a:bodyPr>
          <a:lstStyle/>
          <a:p>
            <a:pPr algn="l">
              <a:lnSpc>
                <a:spcPts val="6148"/>
              </a:lnSpc>
            </a:pPr>
            <a:r>
              <a:rPr lang="en-US" sz="5800" spc="400">
                <a:solidFill>
                  <a:srgbClr val="000000"/>
                </a:solidFill>
                <a:latin typeface="Hammersmith One"/>
                <a:ea typeface="Hammersmith One"/>
                <a:cs typeface="Hammersmith One"/>
                <a:sym typeface="Hammersmith One"/>
              </a:rPr>
              <a:t>CONCLUSION</a:t>
            </a:r>
          </a:p>
        </p:txBody>
      </p:sp>
      <p:sp>
        <p:nvSpPr>
          <p:cNvPr id="6" name="TextBox 6"/>
          <p:cNvSpPr txBox="1"/>
          <p:nvPr/>
        </p:nvSpPr>
        <p:spPr>
          <a:xfrm>
            <a:off x="411477" y="1712018"/>
            <a:ext cx="16466640" cy="8444231"/>
          </a:xfrm>
          <a:prstGeom prst="rect">
            <a:avLst/>
          </a:prstGeom>
        </p:spPr>
        <p:txBody>
          <a:bodyPr lIns="0" tIns="0" rIns="0" bIns="0" rtlCol="0" anchor="t">
            <a:spAutoFit/>
          </a:bodyPr>
          <a:lstStyle/>
          <a:p>
            <a:pPr marL="604515" lvl="1" indent="-302257"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The Energy Driven Personal Productivity Companion introduces a new approach to productivity management by considering the user's energy levels.</a:t>
            </a:r>
          </a:p>
          <a:p>
            <a:pPr algn="l">
              <a:lnSpc>
                <a:spcPts val="3919"/>
              </a:lnSpc>
              <a:spcBef>
                <a:spcPct val="0"/>
              </a:spcBef>
            </a:pPr>
            <a:endParaRPr lang="en-US" sz="2799">
              <a:solidFill>
                <a:srgbClr val="000000"/>
              </a:solidFill>
              <a:latin typeface="Times New Roman"/>
              <a:ea typeface="Times New Roman"/>
              <a:cs typeface="Times New Roman"/>
              <a:sym typeface="Times New Roman"/>
            </a:endParaRPr>
          </a:p>
          <a:p>
            <a:pPr marL="604515" lvl="1" indent="-302257"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It helps users schedule tasks in a way that aligns with their natural productivity cycles.</a:t>
            </a:r>
          </a:p>
          <a:p>
            <a:pPr algn="l">
              <a:lnSpc>
                <a:spcPts val="3919"/>
              </a:lnSpc>
              <a:spcBef>
                <a:spcPct val="0"/>
              </a:spcBef>
            </a:pPr>
            <a:endParaRPr lang="en-US" sz="2799">
              <a:solidFill>
                <a:srgbClr val="000000"/>
              </a:solidFill>
              <a:latin typeface="Times New Roman"/>
              <a:ea typeface="Times New Roman"/>
              <a:cs typeface="Times New Roman"/>
              <a:sym typeface="Times New Roman"/>
            </a:endParaRPr>
          </a:p>
          <a:p>
            <a:pPr marL="604515" lvl="1" indent="-302257"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By assigning tasks based on energy levels, the system ensures that users perform complex tasks when they are most capable.</a:t>
            </a:r>
          </a:p>
          <a:p>
            <a:pPr algn="l">
              <a:lnSpc>
                <a:spcPts val="3919"/>
              </a:lnSpc>
              <a:spcBef>
                <a:spcPct val="0"/>
              </a:spcBef>
            </a:pPr>
            <a:endParaRPr lang="en-US" sz="2799">
              <a:solidFill>
                <a:srgbClr val="000000"/>
              </a:solidFill>
              <a:latin typeface="Times New Roman"/>
              <a:ea typeface="Times New Roman"/>
              <a:cs typeface="Times New Roman"/>
              <a:sym typeface="Times New Roman"/>
            </a:endParaRPr>
          </a:p>
          <a:p>
            <a:pPr marL="604515" lvl="1" indent="-302257"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This improves task completion rate, focus, and overall efficiency.</a:t>
            </a:r>
          </a:p>
          <a:p>
            <a:pPr algn="l">
              <a:lnSpc>
                <a:spcPts val="3919"/>
              </a:lnSpc>
              <a:spcBef>
                <a:spcPct val="0"/>
              </a:spcBef>
            </a:pPr>
            <a:endParaRPr lang="en-US" sz="2799">
              <a:solidFill>
                <a:srgbClr val="000000"/>
              </a:solidFill>
              <a:latin typeface="Times New Roman"/>
              <a:ea typeface="Times New Roman"/>
              <a:cs typeface="Times New Roman"/>
              <a:sym typeface="Times New Roman"/>
            </a:endParaRPr>
          </a:p>
          <a:p>
            <a:pPr marL="604515" lvl="1" indent="-302257"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The project successfully integrates concepts from Frontend Web Development and Data Structures.</a:t>
            </a:r>
          </a:p>
          <a:p>
            <a:pPr algn="l">
              <a:lnSpc>
                <a:spcPts val="3919"/>
              </a:lnSpc>
              <a:spcBef>
                <a:spcPct val="0"/>
              </a:spcBef>
            </a:pPr>
            <a:endParaRPr lang="en-US" sz="2799">
              <a:solidFill>
                <a:srgbClr val="000000"/>
              </a:solidFill>
              <a:latin typeface="Times New Roman"/>
              <a:ea typeface="Times New Roman"/>
              <a:cs typeface="Times New Roman"/>
              <a:sym typeface="Times New Roman"/>
            </a:endParaRPr>
          </a:p>
          <a:p>
            <a:pPr marL="604515" lvl="1" indent="-302257"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It demonstrates how technology can assist individuals in managing their time and work more effectively.</a:t>
            </a:r>
          </a:p>
          <a:p>
            <a:pPr algn="l">
              <a:lnSpc>
                <a:spcPts val="4059"/>
              </a:lnSpc>
              <a:spcBef>
                <a:spcPct val="0"/>
              </a:spcBef>
            </a:pPr>
            <a:endParaRPr lang="en-US" sz="2799">
              <a:solidFill>
                <a:srgbClr val="000000"/>
              </a:solidFill>
              <a:latin typeface="Times New Roman"/>
              <a:ea typeface="Times New Roman"/>
              <a:cs typeface="Times New Roman"/>
              <a:sym typeface="Times New Roman"/>
            </a:endParaRPr>
          </a:p>
          <a:p>
            <a:pPr marL="604515" lvl="1" indent="-302257" algn="l">
              <a:lnSpc>
                <a:spcPts val="3919"/>
              </a:lnSpc>
              <a:spcBef>
                <a:spcPct val="0"/>
              </a:spcBef>
              <a:buFont typeface="Arial"/>
              <a:buChar char="•"/>
            </a:pPr>
            <a:r>
              <a:rPr lang="en-US" sz="2799">
                <a:solidFill>
                  <a:srgbClr val="000000"/>
                </a:solidFill>
                <a:latin typeface="Times New Roman"/>
                <a:ea typeface="Times New Roman"/>
                <a:cs typeface="Times New Roman"/>
                <a:sym typeface="Times New Roman"/>
              </a:rPr>
              <a:t>Future improvements may include AI-based productivity analysis, personalized recommendations, and mobile application support.</a:t>
            </a:r>
          </a:p>
          <a:p>
            <a:pPr algn="l">
              <a:lnSpc>
                <a:spcPts val="3919"/>
              </a:lnSpc>
              <a:spcBef>
                <a:spcPct val="0"/>
              </a:spcBef>
            </a:pPr>
            <a:endParaRPr lang="en-US" sz="2799">
              <a:solidFill>
                <a:srgbClr val="000000"/>
              </a:solidFill>
              <a:latin typeface="Times New Roman"/>
              <a:ea typeface="Times New Roman"/>
              <a:cs typeface="Times New Roman"/>
              <a:sym typeface="Times New Roman"/>
            </a:endParaRPr>
          </a:p>
        </p:txBody>
      </p:sp>
      <p:sp>
        <p:nvSpPr>
          <p:cNvPr id="7" name="Freeform 7"/>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236" y="17328"/>
            <a:ext cx="18305547" cy="10260554"/>
            <a:chOff x="0" y="0"/>
            <a:chExt cx="6093521" cy="3929236"/>
          </a:xfrm>
        </p:grpSpPr>
        <p:sp>
          <p:nvSpPr>
            <p:cNvPr id="3" name="Freeform 3"/>
            <p:cNvSpPr/>
            <p:nvPr/>
          </p:nvSpPr>
          <p:spPr>
            <a:xfrm>
              <a:off x="0" y="0"/>
              <a:ext cx="6093521" cy="3929236"/>
            </a:xfrm>
            <a:custGeom>
              <a:avLst/>
              <a:gdLst/>
              <a:ahLst/>
              <a:cxnLst/>
              <a:rect l="l" t="t" r="r" b="b"/>
              <a:pathLst>
                <a:path w="6093521" h="3929236">
                  <a:moveTo>
                    <a:pt x="0" y="0"/>
                  </a:moveTo>
                  <a:lnTo>
                    <a:pt x="6093521" y="0"/>
                  </a:lnTo>
                  <a:lnTo>
                    <a:pt x="6093521" y="3929236"/>
                  </a:lnTo>
                  <a:lnTo>
                    <a:pt x="0" y="3929236"/>
                  </a:lnTo>
                  <a:close/>
                </a:path>
              </a:pathLst>
            </a:custGeom>
            <a:solidFill>
              <a:srgbClr val="FFF6E3"/>
            </a:solidFill>
          </p:spPr>
        </p:sp>
        <p:sp>
          <p:nvSpPr>
            <p:cNvPr id="4" name="TextBox 4"/>
            <p:cNvSpPr txBox="1"/>
            <p:nvPr/>
          </p:nvSpPr>
          <p:spPr>
            <a:xfrm>
              <a:off x="0" y="-57150"/>
              <a:ext cx="6093521" cy="398638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54377" y="1730351"/>
            <a:ext cx="8250286" cy="7971103"/>
            <a:chOff x="0" y="0"/>
            <a:chExt cx="2172915" cy="2099385"/>
          </a:xfrm>
        </p:grpSpPr>
        <p:sp>
          <p:nvSpPr>
            <p:cNvPr id="6" name="Freeform 6"/>
            <p:cNvSpPr/>
            <p:nvPr/>
          </p:nvSpPr>
          <p:spPr>
            <a:xfrm>
              <a:off x="0" y="0"/>
              <a:ext cx="2172915" cy="2099385"/>
            </a:xfrm>
            <a:custGeom>
              <a:avLst/>
              <a:gdLst/>
              <a:ahLst/>
              <a:cxnLst/>
              <a:rect l="l" t="t" r="r" b="b"/>
              <a:pathLst>
                <a:path w="2172915" h="2099385">
                  <a:moveTo>
                    <a:pt x="0" y="0"/>
                  </a:moveTo>
                  <a:lnTo>
                    <a:pt x="2172915" y="0"/>
                  </a:lnTo>
                  <a:lnTo>
                    <a:pt x="2172915" y="2099385"/>
                  </a:lnTo>
                  <a:lnTo>
                    <a:pt x="0" y="2099385"/>
                  </a:lnTo>
                  <a:close/>
                </a:path>
              </a:pathLst>
            </a:custGeom>
            <a:solidFill>
              <a:srgbClr val="FFFFFF"/>
            </a:solidFill>
          </p:spPr>
        </p:sp>
        <p:sp>
          <p:nvSpPr>
            <p:cNvPr id="7" name="TextBox 7"/>
            <p:cNvSpPr txBox="1"/>
            <p:nvPr/>
          </p:nvSpPr>
          <p:spPr>
            <a:xfrm>
              <a:off x="0" y="-57150"/>
              <a:ext cx="2172915" cy="215653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926565" y="1730351"/>
            <a:ext cx="7789112" cy="7971103"/>
            <a:chOff x="0" y="0"/>
            <a:chExt cx="2051453" cy="2099385"/>
          </a:xfrm>
        </p:grpSpPr>
        <p:sp>
          <p:nvSpPr>
            <p:cNvPr id="9" name="Freeform 9"/>
            <p:cNvSpPr/>
            <p:nvPr/>
          </p:nvSpPr>
          <p:spPr>
            <a:xfrm>
              <a:off x="0" y="0"/>
              <a:ext cx="2051453" cy="2099385"/>
            </a:xfrm>
            <a:custGeom>
              <a:avLst/>
              <a:gdLst/>
              <a:ahLst/>
              <a:cxnLst/>
              <a:rect l="l" t="t" r="r" b="b"/>
              <a:pathLst>
                <a:path w="2051453" h="2099385">
                  <a:moveTo>
                    <a:pt x="0" y="0"/>
                  </a:moveTo>
                  <a:lnTo>
                    <a:pt x="2051453" y="0"/>
                  </a:lnTo>
                  <a:lnTo>
                    <a:pt x="2051453" y="2099385"/>
                  </a:lnTo>
                  <a:lnTo>
                    <a:pt x="0" y="2099385"/>
                  </a:lnTo>
                  <a:close/>
                </a:path>
              </a:pathLst>
            </a:custGeom>
            <a:solidFill>
              <a:srgbClr val="FFFFFF"/>
            </a:solidFill>
          </p:spPr>
        </p:sp>
        <p:sp>
          <p:nvSpPr>
            <p:cNvPr id="10" name="TextBox 10"/>
            <p:cNvSpPr txBox="1"/>
            <p:nvPr/>
          </p:nvSpPr>
          <p:spPr>
            <a:xfrm>
              <a:off x="0" y="-57150"/>
              <a:ext cx="2051453" cy="215653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
        <p:nvSpPr>
          <p:cNvPr id="12" name="Freeform 12"/>
          <p:cNvSpPr/>
          <p:nvPr/>
        </p:nvSpPr>
        <p:spPr>
          <a:xfrm>
            <a:off x="1090297" y="3023985"/>
            <a:ext cx="7178446" cy="5383834"/>
          </a:xfrm>
          <a:custGeom>
            <a:avLst/>
            <a:gdLst/>
            <a:ahLst/>
            <a:cxnLst/>
            <a:rect l="l" t="t" r="r" b="b"/>
            <a:pathLst>
              <a:path w="7178446" h="5383834">
                <a:moveTo>
                  <a:pt x="0" y="0"/>
                </a:moveTo>
                <a:lnTo>
                  <a:pt x="7178446" y="0"/>
                </a:lnTo>
                <a:lnTo>
                  <a:pt x="7178446" y="5383835"/>
                </a:lnTo>
                <a:lnTo>
                  <a:pt x="0" y="5383835"/>
                </a:lnTo>
                <a:lnTo>
                  <a:pt x="0" y="0"/>
                </a:lnTo>
                <a:close/>
              </a:path>
            </a:pathLst>
          </a:custGeom>
          <a:blipFill>
            <a:blip r:embed="rId3"/>
            <a:stretch>
              <a:fillRect/>
            </a:stretch>
          </a:blipFill>
        </p:spPr>
      </p:sp>
      <p:sp>
        <p:nvSpPr>
          <p:cNvPr id="13" name="Freeform 13"/>
          <p:cNvSpPr/>
          <p:nvPr/>
        </p:nvSpPr>
        <p:spPr>
          <a:xfrm>
            <a:off x="10289618" y="3110565"/>
            <a:ext cx="7063006" cy="5297255"/>
          </a:xfrm>
          <a:custGeom>
            <a:avLst/>
            <a:gdLst/>
            <a:ahLst/>
            <a:cxnLst/>
            <a:rect l="l" t="t" r="r" b="b"/>
            <a:pathLst>
              <a:path w="7063006" h="5297255">
                <a:moveTo>
                  <a:pt x="0" y="0"/>
                </a:moveTo>
                <a:lnTo>
                  <a:pt x="7063006" y="0"/>
                </a:lnTo>
                <a:lnTo>
                  <a:pt x="7063006" y="5297255"/>
                </a:lnTo>
                <a:lnTo>
                  <a:pt x="0" y="5297255"/>
                </a:lnTo>
                <a:lnTo>
                  <a:pt x="0" y="0"/>
                </a:lnTo>
                <a:close/>
              </a:path>
            </a:pathLst>
          </a:custGeom>
          <a:blipFill>
            <a:blip r:embed="rId4"/>
            <a:stretch>
              <a:fillRect/>
            </a:stretch>
          </a:blipFill>
        </p:spPr>
      </p:sp>
      <p:sp>
        <p:nvSpPr>
          <p:cNvPr id="14" name="TextBox 14"/>
          <p:cNvSpPr txBox="1"/>
          <p:nvPr/>
        </p:nvSpPr>
        <p:spPr>
          <a:xfrm>
            <a:off x="3840368" y="421080"/>
            <a:ext cx="10607263" cy="775847"/>
          </a:xfrm>
          <a:prstGeom prst="rect">
            <a:avLst/>
          </a:prstGeom>
        </p:spPr>
        <p:txBody>
          <a:bodyPr lIns="0" tIns="0" rIns="0" bIns="0" rtlCol="0" anchor="t">
            <a:spAutoFit/>
          </a:bodyPr>
          <a:lstStyle/>
          <a:p>
            <a:pPr algn="ctr">
              <a:lnSpc>
                <a:spcPts val="5936"/>
              </a:lnSpc>
            </a:pPr>
            <a:r>
              <a:rPr lang="en-US" sz="5600">
                <a:solidFill>
                  <a:srgbClr val="000000"/>
                </a:solidFill>
                <a:latin typeface="Hammersmith One"/>
                <a:ea typeface="Hammersmith One"/>
                <a:cs typeface="Hammersmith One"/>
                <a:sym typeface="Hammersmith One"/>
              </a:rPr>
              <a:t>GEO-TAG PHOTOS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330" y="38894"/>
            <a:ext cx="18305546" cy="10195856"/>
            <a:chOff x="0" y="0"/>
            <a:chExt cx="6093521" cy="3929236"/>
          </a:xfrm>
        </p:grpSpPr>
        <p:sp>
          <p:nvSpPr>
            <p:cNvPr id="3" name="Freeform 3"/>
            <p:cNvSpPr/>
            <p:nvPr/>
          </p:nvSpPr>
          <p:spPr>
            <a:xfrm>
              <a:off x="0" y="0"/>
              <a:ext cx="6093521" cy="3929236"/>
            </a:xfrm>
            <a:custGeom>
              <a:avLst/>
              <a:gdLst/>
              <a:ahLst/>
              <a:cxnLst/>
              <a:rect l="l" t="t" r="r" b="b"/>
              <a:pathLst>
                <a:path w="6093521" h="3929236">
                  <a:moveTo>
                    <a:pt x="0" y="0"/>
                  </a:moveTo>
                  <a:lnTo>
                    <a:pt x="6093521" y="0"/>
                  </a:lnTo>
                  <a:lnTo>
                    <a:pt x="6093521" y="3929236"/>
                  </a:lnTo>
                  <a:lnTo>
                    <a:pt x="0" y="3929236"/>
                  </a:lnTo>
                  <a:close/>
                </a:path>
              </a:pathLst>
            </a:custGeom>
            <a:solidFill>
              <a:srgbClr val="FFF6E3"/>
            </a:solidFill>
          </p:spPr>
        </p:sp>
        <p:sp>
          <p:nvSpPr>
            <p:cNvPr id="4" name="TextBox 4"/>
            <p:cNvSpPr txBox="1"/>
            <p:nvPr/>
          </p:nvSpPr>
          <p:spPr>
            <a:xfrm>
              <a:off x="0" y="-57150"/>
              <a:ext cx="6093521" cy="398638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554377" y="1730351"/>
            <a:ext cx="8250286" cy="7971103"/>
            <a:chOff x="0" y="0"/>
            <a:chExt cx="2172915" cy="2099385"/>
          </a:xfrm>
        </p:grpSpPr>
        <p:sp>
          <p:nvSpPr>
            <p:cNvPr id="6" name="Freeform 6"/>
            <p:cNvSpPr/>
            <p:nvPr/>
          </p:nvSpPr>
          <p:spPr>
            <a:xfrm>
              <a:off x="0" y="0"/>
              <a:ext cx="2172915" cy="2099385"/>
            </a:xfrm>
            <a:custGeom>
              <a:avLst/>
              <a:gdLst/>
              <a:ahLst/>
              <a:cxnLst/>
              <a:rect l="l" t="t" r="r" b="b"/>
              <a:pathLst>
                <a:path w="2172915" h="2099385">
                  <a:moveTo>
                    <a:pt x="0" y="0"/>
                  </a:moveTo>
                  <a:lnTo>
                    <a:pt x="2172915" y="0"/>
                  </a:lnTo>
                  <a:lnTo>
                    <a:pt x="2172915" y="2099385"/>
                  </a:lnTo>
                  <a:lnTo>
                    <a:pt x="0" y="2099385"/>
                  </a:lnTo>
                  <a:close/>
                </a:path>
              </a:pathLst>
            </a:custGeom>
            <a:solidFill>
              <a:srgbClr val="FFFFFF"/>
            </a:solidFill>
          </p:spPr>
        </p:sp>
        <p:sp>
          <p:nvSpPr>
            <p:cNvPr id="7" name="TextBox 7"/>
            <p:cNvSpPr txBox="1"/>
            <p:nvPr/>
          </p:nvSpPr>
          <p:spPr>
            <a:xfrm>
              <a:off x="0" y="-57150"/>
              <a:ext cx="2172915" cy="215653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926565" y="1730351"/>
            <a:ext cx="7789112" cy="7971103"/>
            <a:chOff x="0" y="0"/>
            <a:chExt cx="2051453" cy="2099385"/>
          </a:xfrm>
        </p:grpSpPr>
        <p:sp>
          <p:nvSpPr>
            <p:cNvPr id="9" name="Freeform 9"/>
            <p:cNvSpPr/>
            <p:nvPr/>
          </p:nvSpPr>
          <p:spPr>
            <a:xfrm>
              <a:off x="0" y="0"/>
              <a:ext cx="2051453" cy="2099385"/>
            </a:xfrm>
            <a:custGeom>
              <a:avLst/>
              <a:gdLst/>
              <a:ahLst/>
              <a:cxnLst/>
              <a:rect l="l" t="t" r="r" b="b"/>
              <a:pathLst>
                <a:path w="2051453" h="2099385">
                  <a:moveTo>
                    <a:pt x="0" y="0"/>
                  </a:moveTo>
                  <a:lnTo>
                    <a:pt x="2051453" y="0"/>
                  </a:lnTo>
                  <a:lnTo>
                    <a:pt x="2051453" y="2099385"/>
                  </a:lnTo>
                  <a:lnTo>
                    <a:pt x="0" y="2099385"/>
                  </a:lnTo>
                  <a:close/>
                </a:path>
              </a:pathLst>
            </a:custGeom>
            <a:solidFill>
              <a:srgbClr val="FFFFFF"/>
            </a:solidFill>
          </p:spPr>
        </p:sp>
        <p:sp>
          <p:nvSpPr>
            <p:cNvPr id="10" name="TextBox 10"/>
            <p:cNvSpPr txBox="1"/>
            <p:nvPr/>
          </p:nvSpPr>
          <p:spPr>
            <a:xfrm>
              <a:off x="0" y="-57150"/>
              <a:ext cx="2051453" cy="2156535"/>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
        <p:nvSpPr>
          <p:cNvPr id="12" name="Freeform 12"/>
          <p:cNvSpPr/>
          <p:nvPr/>
        </p:nvSpPr>
        <p:spPr>
          <a:xfrm>
            <a:off x="948494" y="2917633"/>
            <a:ext cx="7462052" cy="5596539"/>
          </a:xfrm>
          <a:custGeom>
            <a:avLst/>
            <a:gdLst/>
            <a:ahLst/>
            <a:cxnLst/>
            <a:rect l="l" t="t" r="r" b="b"/>
            <a:pathLst>
              <a:path w="7462052" h="5596539">
                <a:moveTo>
                  <a:pt x="0" y="0"/>
                </a:moveTo>
                <a:lnTo>
                  <a:pt x="7462052" y="0"/>
                </a:lnTo>
                <a:lnTo>
                  <a:pt x="7462052" y="5596539"/>
                </a:lnTo>
                <a:lnTo>
                  <a:pt x="0" y="5596539"/>
                </a:lnTo>
                <a:lnTo>
                  <a:pt x="0" y="0"/>
                </a:lnTo>
                <a:close/>
              </a:path>
            </a:pathLst>
          </a:custGeom>
          <a:blipFill>
            <a:blip r:embed="rId3"/>
            <a:stretch>
              <a:fillRect/>
            </a:stretch>
          </a:blipFill>
        </p:spPr>
      </p:sp>
      <p:sp>
        <p:nvSpPr>
          <p:cNvPr id="13" name="Freeform 13"/>
          <p:cNvSpPr/>
          <p:nvPr/>
        </p:nvSpPr>
        <p:spPr>
          <a:xfrm>
            <a:off x="10202778" y="3002145"/>
            <a:ext cx="7236686" cy="5427515"/>
          </a:xfrm>
          <a:custGeom>
            <a:avLst/>
            <a:gdLst/>
            <a:ahLst/>
            <a:cxnLst/>
            <a:rect l="l" t="t" r="r" b="b"/>
            <a:pathLst>
              <a:path w="7236686" h="5427515">
                <a:moveTo>
                  <a:pt x="0" y="0"/>
                </a:moveTo>
                <a:lnTo>
                  <a:pt x="7236686" y="0"/>
                </a:lnTo>
                <a:lnTo>
                  <a:pt x="7236686" y="5427515"/>
                </a:lnTo>
                <a:lnTo>
                  <a:pt x="0" y="5427515"/>
                </a:lnTo>
                <a:lnTo>
                  <a:pt x="0" y="0"/>
                </a:lnTo>
                <a:close/>
              </a:path>
            </a:pathLst>
          </a:custGeom>
          <a:blipFill>
            <a:blip r:embed="rId4"/>
            <a:stretch>
              <a:fillRect/>
            </a:stretch>
          </a:blipFill>
        </p:spPr>
      </p:sp>
      <p:sp>
        <p:nvSpPr>
          <p:cNvPr id="14" name="TextBox 14"/>
          <p:cNvSpPr txBox="1"/>
          <p:nvPr/>
        </p:nvSpPr>
        <p:spPr>
          <a:xfrm>
            <a:off x="3840368" y="421080"/>
            <a:ext cx="10607263" cy="775847"/>
          </a:xfrm>
          <a:prstGeom prst="rect">
            <a:avLst/>
          </a:prstGeom>
        </p:spPr>
        <p:txBody>
          <a:bodyPr lIns="0" tIns="0" rIns="0" bIns="0" rtlCol="0" anchor="t">
            <a:spAutoFit/>
          </a:bodyPr>
          <a:lstStyle/>
          <a:p>
            <a:pPr algn="ctr">
              <a:lnSpc>
                <a:spcPts val="5936"/>
              </a:lnSpc>
            </a:pPr>
            <a:r>
              <a:rPr lang="en-US" sz="5600">
                <a:solidFill>
                  <a:srgbClr val="000000"/>
                </a:solidFill>
                <a:latin typeface="Hammersmith One"/>
                <a:ea typeface="Hammersmith One"/>
                <a:cs typeface="Hammersmith One"/>
                <a:sym typeface="Hammersmith One"/>
              </a:rPr>
              <a:t>GEO-TAG PHOTOS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77504">
            <a:off x="4964907" y="2701041"/>
            <a:ext cx="8358186" cy="4621908"/>
            <a:chOff x="0" y="0"/>
            <a:chExt cx="1393038" cy="770322"/>
          </a:xfrm>
        </p:grpSpPr>
        <p:sp>
          <p:nvSpPr>
            <p:cNvPr id="3" name="Freeform 3"/>
            <p:cNvSpPr/>
            <p:nvPr/>
          </p:nvSpPr>
          <p:spPr>
            <a:xfrm>
              <a:off x="0" y="0"/>
              <a:ext cx="1393039" cy="770322"/>
            </a:xfrm>
            <a:custGeom>
              <a:avLst/>
              <a:gdLst/>
              <a:ahLst/>
              <a:cxnLst/>
              <a:rect l="l" t="t" r="r" b="b"/>
              <a:pathLst>
                <a:path w="1393039" h="770322">
                  <a:moveTo>
                    <a:pt x="0" y="0"/>
                  </a:moveTo>
                  <a:lnTo>
                    <a:pt x="1393039" y="0"/>
                  </a:lnTo>
                  <a:lnTo>
                    <a:pt x="1393039" y="770322"/>
                  </a:lnTo>
                  <a:lnTo>
                    <a:pt x="0" y="770322"/>
                  </a:lnTo>
                  <a:close/>
                </a:path>
              </a:pathLst>
            </a:custGeom>
            <a:solidFill>
              <a:srgbClr val="FFF6E3"/>
            </a:solidFill>
            <a:ln w="19050" cap="sq">
              <a:solidFill>
                <a:srgbClr val="000000"/>
              </a:solidFill>
              <a:prstDash val="solid"/>
              <a:miter/>
            </a:ln>
          </p:spPr>
        </p:sp>
        <p:sp>
          <p:nvSpPr>
            <p:cNvPr id="4" name="TextBox 4"/>
            <p:cNvSpPr txBox="1"/>
            <p:nvPr/>
          </p:nvSpPr>
          <p:spPr>
            <a:xfrm>
              <a:off x="0" y="-38100"/>
              <a:ext cx="1393038" cy="80842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34315">
            <a:off x="4879250" y="2592908"/>
            <a:ext cx="8358186" cy="4621908"/>
            <a:chOff x="0" y="0"/>
            <a:chExt cx="1393038" cy="770322"/>
          </a:xfrm>
        </p:grpSpPr>
        <p:sp>
          <p:nvSpPr>
            <p:cNvPr id="6" name="Freeform 6"/>
            <p:cNvSpPr/>
            <p:nvPr/>
          </p:nvSpPr>
          <p:spPr>
            <a:xfrm>
              <a:off x="0" y="0"/>
              <a:ext cx="1393039" cy="770322"/>
            </a:xfrm>
            <a:custGeom>
              <a:avLst/>
              <a:gdLst/>
              <a:ahLst/>
              <a:cxnLst/>
              <a:rect l="l" t="t" r="r" b="b"/>
              <a:pathLst>
                <a:path w="1393039" h="770322">
                  <a:moveTo>
                    <a:pt x="0" y="0"/>
                  </a:moveTo>
                  <a:lnTo>
                    <a:pt x="1393039" y="0"/>
                  </a:lnTo>
                  <a:lnTo>
                    <a:pt x="1393039" y="770322"/>
                  </a:lnTo>
                  <a:lnTo>
                    <a:pt x="0" y="770322"/>
                  </a:lnTo>
                  <a:close/>
                </a:path>
              </a:pathLst>
            </a:custGeom>
            <a:solidFill>
              <a:srgbClr val="FFF6E3"/>
            </a:solidFill>
            <a:ln w="19050" cap="sq">
              <a:solidFill>
                <a:srgbClr val="000000"/>
              </a:solidFill>
              <a:prstDash val="solid"/>
              <a:miter/>
            </a:ln>
          </p:spPr>
        </p:sp>
        <p:sp>
          <p:nvSpPr>
            <p:cNvPr id="7" name="TextBox 7"/>
            <p:cNvSpPr txBox="1"/>
            <p:nvPr/>
          </p:nvSpPr>
          <p:spPr>
            <a:xfrm>
              <a:off x="0" y="-38100"/>
              <a:ext cx="1393038" cy="80842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792171" y="2354588"/>
            <a:ext cx="8358186" cy="4621908"/>
            <a:chOff x="0" y="0"/>
            <a:chExt cx="1393038" cy="770322"/>
          </a:xfrm>
        </p:grpSpPr>
        <p:sp>
          <p:nvSpPr>
            <p:cNvPr id="9" name="Freeform 9"/>
            <p:cNvSpPr/>
            <p:nvPr/>
          </p:nvSpPr>
          <p:spPr>
            <a:xfrm>
              <a:off x="0" y="0"/>
              <a:ext cx="1393039" cy="770322"/>
            </a:xfrm>
            <a:custGeom>
              <a:avLst/>
              <a:gdLst/>
              <a:ahLst/>
              <a:cxnLst/>
              <a:rect l="l" t="t" r="r" b="b"/>
              <a:pathLst>
                <a:path w="1393039" h="770322">
                  <a:moveTo>
                    <a:pt x="0" y="0"/>
                  </a:moveTo>
                  <a:lnTo>
                    <a:pt x="1393039" y="0"/>
                  </a:lnTo>
                  <a:lnTo>
                    <a:pt x="1393039" y="770322"/>
                  </a:lnTo>
                  <a:lnTo>
                    <a:pt x="0" y="770322"/>
                  </a:lnTo>
                  <a:close/>
                </a:path>
              </a:pathLst>
            </a:custGeom>
            <a:solidFill>
              <a:srgbClr val="FFF6E3"/>
            </a:solidFill>
            <a:ln w="19050" cap="sq">
              <a:solidFill>
                <a:srgbClr val="000000"/>
              </a:solidFill>
              <a:prstDash val="solid"/>
              <a:miter/>
            </a:ln>
          </p:spPr>
        </p:sp>
        <p:sp>
          <p:nvSpPr>
            <p:cNvPr id="10" name="TextBox 10"/>
            <p:cNvSpPr txBox="1"/>
            <p:nvPr/>
          </p:nvSpPr>
          <p:spPr>
            <a:xfrm>
              <a:off x="0" y="-38100"/>
              <a:ext cx="1393038" cy="808422"/>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810890" y="3657696"/>
            <a:ext cx="6125308" cy="2861442"/>
          </a:xfrm>
          <a:prstGeom prst="rect">
            <a:avLst/>
          </a:prstGeom>
        </p:spPr>
        <p:txBody>
          <a:bodyPr lIns="0" tIns="0" rIns="0" bIns="0" rtlCol="0" anchor="t">
            <a:spAutoFit/>
          </a:bodyPr>
          <a:lstStyle/>
          <a:p>
            <a:pPr algn="ctr">
              <a:lnSpc>
                <a:spcPts val="11487"/>
              </a:lnSpc>
            </a:pPr>
            <a:r>
              <a:rPr lang="en-US" sz="8205">
                <a:solidFill>
                  <a:srgbClr val="000000"/>
                </a:solidFill>
                <a:latin typeface="Times New Roman"/>
                <a:ea typeface="Times New Roman"/>
                <a:cs typeface="Times New Roman"/>
                <a:sym typeface="Times New Roman"/>
              </a:rPr>
              <a:t>THANK YOU</a:t>
            </a:r>
          </a:p>
          <a:p>
            <a:pPr algn="ctr">
              <a:lnSpc>
                <a:spcPts val="11487"/>
              </a:lnSpc>
              <a:spcBef>
                <a:spcPct val="0"/>
              </a:spcBef>
            </a:pPr>
            <a:endParaRPr lang="en-US" sz="8205">
              <a:solidFill>
                <a:srgbClr val="000000"/>
              </a:solidFill>
              <a:latin typeface="Times New Roman"/>
              <a:ea typeface="Times New Roman"/>
              <a:cs typeface="Times New Roman"/>
              <a:sym typeface="Times New Roman"/>
            </a:endParaRPr>
          </a:p>
        </p:txBody>
      </p:sp>
      <p:sp>
        <p:nvSpPr>
          <p:cNvPr id="12" name="Freeform 12"/>
          <p:cNvSpPr/>
          <p:nvPr/>
        </p:nvSpPr>
        <p:spPr>
          <a:xfrm>
            <a:off x="0" y="43535"/>
            <a:ext cx="2284689" cy="985165"/>
          </a:xfrm>
          <a:custGeom>
            <a:avLst/>
            <a:gdLst/>
            <a:ahLst/>
            <a:cxnLst/>
            <a:rect l="l" t="t" r="r" b="b"/>
            <a:pathLst>
              <a:path w="2284689" h="985165">
                <a:moveTo>
                  <a:pt x="0" y="0"/>
                </a:moveTo>
                <a:lnTo>
                  <a:pt x="2284689" y="0"/>
                </a:lnTo>
                <a:lnTo>
                  <a:pt x="2284689" y="985165"/>
                </a:lnTo>
                <a:lnTo>
                  <a:pt x="0" y="985165"/>
                </a:lnTo>
                <a:lnTo>
                  <a:pt x="0" y="0"/>
                </a:lnTo>
                <a:close/>
              </a:path>
            </a:pathLst>
          </a:custGeom>
          <a:blipFill>
            <a:blip r:embed="rId2"/>
            <a:stretch>
              <a:fillRect b="-7106"/>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Driven Personalised</dc:title>
  <cp:revision>50</cp:revision>
  <dcterms:created xsi:type="dcterms:W3CDTF">2006-08-16T00:00:00Z</dcterms:created>
  <dcterms:modified xsi:type="dcterms:W3CDTF">2026-03-09T16:42:04Z</dcterms:modified>
  <dc:identifier>DAG-4P8zg9o</dc:identifier>
</cp:coreProperties>
</file>